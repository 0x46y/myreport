
<file path=[Content_Types].xml><?xml version="1.0" encoding="utf-8"?>
<Types xmlns="http://schemas.openxmlformats.org/package/2006/content-types">
  <Default Extension="gif" ContentType="image/gif"/>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73121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gif"/><Relationship Id="rId4" Type="http://schemas.openxmlformats.org/officeDocument/2006/relationships/image" Target="../media/image2.gif"/></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3Dデータから三面図・確認資料を自動生成するPoC提案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既存3D案件の確認作業・資料作成を支援するための小規模検証案</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既存3D案件の周辺作業を支援する案として、3Dデータから三面図風の確認資料を自動生成できるか検証します。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最初から大きな開発にせず、まず1週間で動く最小サンプルを作り、継続する価値を判断できる状態にします。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単なる3D表示ではなく、ビューのトリミング、縮尺調整、用紙フォーマットへの配置を自動化できるかを見ます。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 / 13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提案目的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会社へどう貢献するか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社内IT部署では、機械設計部署の支援や3D/CATIA周辺の相談が多いと理解している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3Dデータの確認、資料化、説明用出力を軽くできれば、設計者、営業、見積もり、顧客説明の支援につながる可能性がある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今回の提案では、会社側から仕様を細かく決めていただくのではなく、自分の方でPoC範囲を定義して進める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既存案件でより価値が高い用途があれば、レビュー時に優先順位を調整する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2 / 13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現状課題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CAD本体だけでは周辺作業の自動化に限界が出やすい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過去の検討では、正面・側面・上面・アイソメ図を出力できても、用紙フォーマットへの自動配置で制約があった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物体が写っている範囲の自動検出、余白トリミング、縮尺調整、配置座標の指定を十分に制御できなかった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用紙にはタイトル欄、記入欄、押印欄などの避けるべき領域があり、ビュー同士が重ならない配置が必要になる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そのため、単なる表示ではなく、確認資料として整える工程まで自動化できるかを検証したい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3 / 13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PoCの目的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既存3D案件で利用できる確認資料自動生成の実現可能性を検証する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3Dデータを読み込み、正面・上面・側面・アイソメなどのビューを自動生成できるか検証する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各ビューで物体が写っている範囲を検出し、不要な余白を自動でトリミングできるか検証する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指定された用紙フォーマット内の配置領域に合わせて、縮尺と配置座標を自動計算できるか検証する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タイトル欄、記入欄、押印欄を避け、確認資料またはPDFとして出力できるか判断する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4 / 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今回やること / やらないこと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スコープを明確にし、1週間で判断しやすい範囲に絞る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3Dデータの読み込みと、正面・上面・側面・アイソメビューの生成</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各ビューの外形範囲を取得し、不要な余白を自動トリミングする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用紙フォーマット上の指定領域に収まるよう縮尺を自動計算する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タイトル欄や押印欄を避けて、各ビューを指定座標へ配置する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配置結果を画像またはPDFの確認資料として出力する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余裕があれば: 簡易寸法、注記、ファイル名、確認日時などの補助情報を追加</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やらないこと: CAD編集、CATIA置き換え、正式図面、品質保証、解析、AI連携</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5 / 13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図枠テンプレートの例</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表題欄の位置や用紙形式によって、ビューを置ける領域が変わる</a:t>
            </a:r>
            <a:endParaRPr lang="en-US" sz="1600" dirty="0"/>
          </a:p>
        </p:txBody>
      </p:sp>
      <p:sp>
        <p:nvSpPr>
          <p:cNvPr id="5" name="Shape 3"/>
          <p:cNvSpPr/>
          <p:nvPr/>
        </p:nvSpPr>
        <p:spPr>
          <a:xfrm>
            <a:off x="658368" y="1645920"/>
            <a:ext cx="3401568" cy="3429000"/>
          </a:xfrm>
          <a:prstGeom prst="roundRect">
            <a:avLst>
              <a:gd name="adj" fmla="val 1344"/>
            </a:avLst>
          </a:prstGeom>
          <a:solidFill>
            <a:srgbClr val="F8FAFC"/>
          </a:solidFill>
          <a:ln w="12700">
            <a:solidFill>
              <a:srgbClr val="CBD5E1"/>
            </a:solidFill>
            <a:prstDash val="solid"/>
          </a:ln>
        </p:spPr>
      </p:sp>
      <p:pic>
        <p:nvPicPr>
          <p:cNvPr id="6" name="Image 0" descr="/mnt/c/Users/y_s_d/Desktop/develop/work/mytool/MyReport/assets/company-proposal/image1.gif"/>
          <p:cNvPicPr>
            <a:picLocks noChangeAspect="1"/>
          </p:cNvPicPr>
          <p:nvPr/>
        </p:nvPicPr>
        <p:blipFill>
          <a:blip r:embed="rId3"/>
          <a:stretch>
            <a:fillRect/>
          </a:stretch>
        </p:blipFill>
        <p:spPr>
          <a:xfrm>
            <a:off x="859536" y="1965960"/>
            <a:ext cx="2999232" cy="2121408"/>
          </a:xfrm>
          <a:prstGeom prst="rect">
            <a:avLst/>
          </a:prstGeom>
        </p:spPr>
      </p:pic>
      <p:sp>
        <p:nvSpPr>
          <p:cNvPr id="7" name="Text 4"/>
          <p:cNvSpPr/>
          <p:nvPr/>
        </p:nvSpPr>
        <p:spPr>
          <a:xfrm>
            <a:off x="795528" y="4315968"/>
            <a:ext cx="3127248" cy="347472"/>
          </a:xfrm>
          <a:prstGeom prst="rect">
            <a:avLst/>
          </a:prstGeom>
          <a:noFill/>
          <a:ln/>
        </p:spPr>
        <p:txBody>
          <a:bodyPr wrap="square" lIns="0" tIns="0" rIns="0" bIns="0" rtlCol="0" anchor="ctr"/>
          <a:lstStyle/>
          <a:p>
            <a:pPr marL="0" indent="0" algn="ctr">
              <a:buNone/>
            </a:pPr>
            <a:r>
              <a:rPr lang="en-US" sz="1300" b="1" dirty="0">
                <a:solidFill>
                  <a:srgbClr val="334155"/>
                </a:solidFill>
                <a:latin typeface="Yu Gothic" pitchFamily="34" charset="0"/>
                <a:ea typeface="Yu Gothic" pitchFamily="34" charset="-122"/>
                <a:cs typeface="Yu Gothic" pitchFamily="34" charset="-120"/>
              </a:rPr>
              <a:t>右下に表題欄がある例</a:t>
            </a:r>
            <a:endParaRPr lang="en-US" sz="1300" dirty="0"/>
          </a:p>
        </p:txBody>
      </p:sp>
      <p:sp>
        <p:nvSpPr>
          <p:cNvPr id="8" name="Shape 5"/>
          <p:cNvSpPr/>
          <p:nvPr/>
        </p:nvSpPr>
        <p:spPr>
          <a:xfrm>
            <a:off x="4453128" y="1645920"/>
            <a:ext cx="3401568" cy="3429000"/>
          </a:xfrm>
          <a:prstGeom prst="roundRect">
            <a:avLst>
              <a:gd name="adj" fmla="val 1344"/>
            </a:avLst>
          </a:prstGeom>
          <a:solidFill>
            <a:srgbClr val="F8FAFC"/>
          </a:solidFill>
          <a:ln w="12700">
            <a:solidFill>
              <a:srgbClr val="CBD5E1"/>
            </a:solidFill>
            <a:prstDash val="solid"/>
          </a:ln>
        </p:spPr>
      </p:sp>
      <p:pic>
        <p:nvPicPr>
          <p:cNvPr id="9" name="Image 1" descr="/mnt/c/Users/y_s_d/Desktop/develop/work/mytool/MyReport/assets/company-proposal/image2.gif"/>
          <p:cNvPicPr>
            <a:picLocks noChangeAspect="1"/>
          </p:cNvPicPr>
          <p:nvPr/>
        </p:nvPicPr>
        <p:blipFill>
          <a:blip r:embed="rId4"/>
          <a:stretch>
            <a:fillRect/>
          </a:stretch>
        </p:blipFill>
        <p:spPr>
          <a:xfrm>
            <a:off x="4654296" y="1965960"/>
            <a:ext cx="2999232" cy="2121408"/>
          </a:xfrm>
          <a:prstGeom prst="rect">
            <a:avLst/>
          </a:prstGeom>
        </p:spPr>
      </p:pic>
      <p:sp>
        <p:nvSpPr>
          <p:cNvPr id="10" name="Text 6"/>
          <p:cNvSpPr/>
          <p:nvPr/>
        </p:nvSpPr>
        <p:spPr>
          <a:xfrm>
            <a:off x="4590288" y="4315968"/>
            <a:ext cx="3127248" cy="347472"/>
          </a:xfrm>
          <a:prstGeom prst="rect">
            <a:avLst/>
          </a:prstGeom>
          <a:noFill/>
          <a:ln/>
        </p:spPr>
        <p:txBody>
          <a:bodyPr wrap="square" lIns="0" tIns="0" rIns="0" bIns="0" rtlCol="0" anchor="ctr"/>
          <a:lstStyle/>
          <a:p>
            <a:pPr marL="0" indent="0" algn="ctr">
              <a:buNone/>
            </a:pPr>
            <a:r>
              <a:rPr lang="en-US" sz="1300" b="1" dirty="0">
                <a:solidFill>
                  <a:srgbClr val="334155"/>
                </a:solidFill>
                <a:latin typeface="Yu Gothic" pitchFamily="34" charset="0"/>
                <a:ea typeface="Yu Gothic" pitchFamily="34" charset="-122"/>
                <a:cs typeface="Yu Gothic" pitchFamily="34" charset="-120"/>
              </a:rPr>
              <a:t>下部に表題欄がある例</a:t>
            </a:r>
            <a:endParaRPr lang="en-US" sz="1300" dirty="0"/>
          </a:p>
        </p:txBody>
      </p:sp>
      <p:sp>
        <p:nvSpPr>
          <p:cNvPr id="11" name="Shape 7"/>
          <p:cNvSpPr/>
          <p:nvPr/>
        </p:nvSpPr>
        <p:spPr>
          <a:xfrm>
            <a:off x="8247888" y="1645920"/>
            <a:ext cx="3401568" cy="3429000"/>
          </a:xfrm>
          <a:prstGeom prst="roundRect">
            <a:avLst>
              <a:gd name="adj" fmla="val 1344"/>
            </a:avLst>
          </a:prstGeom>
          <a:solidFill>
            <a:srgbClr val="F8FAFC"/>
          </a:solidFill>
          <a:ln w="12700">
            <a:solidFill>
              <a:srgbClr val="CBD5E1"/>
            </a:solidFill>
            <a:prstDash val="solid"/>
          </a:ln>
        </p:spPr>
      </p:sp>
      <p:pic>
        <p:nvPicPr>
          <p:cNvPr id="12" name="Image 2" descr="/mnt/c/Users/y_s_d/Desktop/develop/work/mytool/MyReport/assets/company-proposal/image4.gif"/>
          <p:cNvPicPr>
            <a:picLocks noChangeAspect="1"/>
          </p:cNvPicPr>
          <p:nvPr/>
        </p:nvPicPr>
        <p:blipFill>
          <a:blip r:embed="rId5"/>
          <a:stretch>
            <a:fillRect/>
          </a:stretch>
        </p:blipFill>
        <p:spPr>
          <a:xfrm>
            <a:off x="8449056" y="1965960"/>
            <a:ext cx="2999232" cy="2121408"/>
          </a:xfrm>
          <a:prstGeom prst="rect">
            <a:avLst/>
          </a:prstGeom>
        </p:spPr>
      </p:pic>
      <p:sp>
        <p:nvSpPr>
          <p:cNvPr id="13" name="Text 8"/>
          <p:cNvSpPr/>
          <p:nvPr/>
        </p:nvSpPr>
        <p:spPr>
          <a:xfrm>
            <a:off x="8385048" y="4315968"/>
            <a:ext cx="3127248" cy="347472"/>
          </a:xfrm>
          <a:prstGeom prst="rect">
            <a:avLst/>
          </a:prstGeom>
          <a:noFill/>
          <a:ln/>
        </p:spPr>
        <p:txBody>
          <a:bodyPr wrap="square" lIns="0" tIns="0" rIns="0" bIns="0" rtlCol="0" anchor="ctr"/>
          <a:lstStyle/>
          <a:p>
            <a:pPr marL="0" indent="0" algn="ctr">
              <a:buNone/>
            </a:pPr>
            <a:r>
              <a:rPr lang="en-US" sz="1300" b="1" dirty="0">
                <a:solidFill>
                  <a:srgbClr val="334155"/>
                </a:solidFill>
                <a:latin typeface="Yu Gothic" pitchFamily="34" charset="0"/>
                <a:ea typeface="Yu Gothic" pitchFamily="34" charset="-122"/>
                <a:cs typeface="Yu Gothic" pitchFamily="34" charset="-120"/>
              </a:rPr>
              <a:t>小さな表題欄がある例</a:t>
            </a:r>
            <a:endParaRPr lang="en-US" sz="1300" dirty="0"/>
          </a:p>
        </p:txBody>
      </p:sp>
      <p:sp>
        <p:nvSpPr>
          <p:cNvPr id="14" name="Text 9"/>
          <p:cNvSpPr/>
          <p:nvPr/>
        </p:nvSpPr>
        <p:spPr>
          <a:xfrm>
            <a:off x="822960" y="5321808"/>
            <a:ext cx="10515600" cy="365760"/>
          </a:xfrm>
          <a:prstGeom prst="rect">
            <a:avLst/>
          </a:prstGeom>
          <a:noFill/>
          <a:ln/>
        </p:spPr>
        <p:txBody>
          <a:bodyPr wrap="square" lIns="0" tIns="0" rIns="0" bIns="0" rtlCol="0" anchor="ctr"/>
          <a:lstStyle/>
          <a:p>
            <a:pPr marL="0" indent="0" algn="ctr">
              <a:buNone/>
            </a:pPr>
            <a:r>
              <a:rPr lang="en-US" sz="1500" b="1" dirty="0">
                <a:solidFill>
                  <a:srgbClr val="0F766E"/>
                </a:solidFill>
                <a:latin typeface="Yu Gothic" pitchFamily="34" charset="0"/>
                <a:ea typeface="Yu Gothic" pitchFamily="34" charset="-122"/>
                <a:cs typeface="Yu Gothic" pitchFamily="34" charset="-120"/>
              </a:rPr>
              <a:t>PoCでは、表題欄や記入欄を固定の除外領域として扱い、残りの領域へ各ビューを配置する</a:t>
            </a:r>
            <a:endParaRPr lang="en-US" sz="1500" dirty="0"/>
          </a:p>
        </p:txBody>
      </p:sp>
      <p:sp>
        <p:nvSpPr>
          <p:cNvPr id="15" name="Text 10"/>
          <p:cNvSpPr/>
          <p:nvPr/>
        </p:nvSpPr>
        <p:spPr>
          <a:xfrm>
            <a:off x="713232" y="6007608"/>
            <a:ext cx="8046720" cy="228600"/>
          </a:xfrm>
          <a:prstGeom prst="rect">
            <a:avLst/>
          </a:prstGeom>
          <a:noFill/>
          <a:ln/>
        </p:spPr>
        <p:txBody>
          <a:bodyPr wrap="square" lIns="0" tIns="0" rIns="0" bIns="0" rtlCol="0" anchor="ctr"/>
          <a:lstStyle/>
          <a:p>
            <a:pPr marL="0" indent="0">
              <a:buNone/>
            </a:pPr>
            <a:r>
              <a:rPr lang="en-US" sz="800" dirty="0">
                <a:solidFill>
                  <a:srgbClr val="64748B"/>
                </a:solidFill>
                <a:latin typeface="Yu Gothic" pitchFamily="34" charset="0"/>
                <a:ea typeface="Yu Gothic" pitchFamily="34" charset="-122"/>
                <a:cs typeface="Yu Gothic" pitchFamily="34" charset="-120"/>
              </a:rPr>
              <a:t>出典: RootPro CAD サンプル図枠テンプレート（提案説明用に掲載）</a:t>
            </a:r>
            <a:endParaRPr lang="en-US" sz="800" dirty="0"/>
          </a:p>
        </p:txBody>
      </p:sp>
      <p:sp>
        <p:nvSpPr>
          <p:cNvPr id="16" name="Text 11"/>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6 / 13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目標とする出力例</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3Dデータから各方向のビューを作り、確認しやすい位置へ自動配置する</a:t>
            </a:r>
            <a:endParaRPr lang="en-US" sz="1600" dirty="0"/>
          </a:p>
        </p:txBody>
      </p:sp>
      <p:sp>
        <p:nvSpPr>
          <p:cNvPr id="5" name="Shape 3"/>
          <p:cNvSpPr/>
          <p:nvPr/>
        </p:nvSpPr>
        <p:spPr>
          <a:xfrm>
            <a:off x="658368" y="1600200"/>
            <a:ext cx="6720840" cy="4370832"/>
          </a:xfrm>
          <a:prstGeom prst="roundRect">
            <a:avLst>
              <a:gd name="adj" fmla="val 1046"/>
            </a:avLst>
          </a:prstGeom>
          <a:solidFill>
            <a:srgbClr val="0F172A"/>
          </a:solidFill>
          <a:ln w="12700">
            <a:solidFill>
              <a:srgbClr val="334155"/>
            </a:solidFill>
            <a:prstDash val="solid"/>
          </a:ln>
        </p:spPr>
      </p:sp>
      <p:pic>
        <p:nvPicPr>
          <p:cNvPr id="6" name="Image 0" descr="/mnt/c/Users/y_s_d/Desktop/develop/work/mytool/MyReport/assets/company-proposal/image3.JPG"/>
          <p:cNvPicPr>
            <a:picLocks noChangeAspect="1"/>
          </p:cNvPicPr>
          <p:nvPr/>
        </p:nvPicPr>
        <p:blipFill>
          <a:blip r:embed="rId3"/>
          <a:stretch>
            <a:fillRect/>
          </a:stretch>
        </p:blipFill>
        <p:spPr>
          <a:xfrm>
            <a:off x="1157369" y="1600200"/>
            <a:ext cx="5879592" cy="4315968"/>
          </a:xfrm>
          <a:prstGeom prst="rect">
            <a:avLst/>
          </a:prstGeom>
        </p:spPr>
      </p:pic>
      <p:sp>
        <p:nvSpPr>
          <p:cNvPr id="7" name="Text 4"/>
          <p:cNvSpPr/>
          <p:nvPr/>
        </p:nvSpPr>
        <p:spPr>
          <a:xfrm>
            <a:off x="7726680" y="1938528"/>
            <a:ext cx="3703320" cy="2971800"/>
          </a:xfrm>
          <a:prstGeom prst="rect">
            <a:avLst/>
          </a:prstGeom>
          <a:noFill/>
          <a:ln/>
        </p:spPr>
        <p:txBody>
          <a:bodyPr wrap="square" lIns="635" tIns="635" rIns="635" bIns="635" rtlCol="0" anchor="ctr">
            <a:normAutofit/>
          </a:bodyPr>
          <a:lstStyle/>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正面・上面・側面・アイソメを生成する</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各ビューの余白を検出して取り除く</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配置領域に収まる縮尺を計算する</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表題欄などを避けて配置する</a:t>
            </a:r>
            <a:endParaRPr lang="en-US" sz="1700" dirty="0"/>
          </a:p>
        </p:txBody>
      </p:sp>
      <p:sp>
        <p:nvSpPr>
          <p:cNvPr id="8" name="Shape 5"/>
          <p:cNvSpPr/>
          <p:nvPr/>
        </p:nvSpPr>
        <p:spPr>
          <a:xfrm>
            <a:off x="7726680" y="4919472"/>
            <a:ext cx="3703320" cy="786384"/>
          </a:xfrm>
          <a:prstGeom prst="roundRect">
            <a:avLst>
              <a:gd name="adj" fmla="val 6977"/>
            </a:avLst>
          </a:prstGeom>
          <a:solidFill>
            <a:srgbClr val="CCFBF1"/>
          </a:solidFill>
          <a:ln w="12700">
            <a:solidFill>
              <a:srgbClr val="5EEAD4"/>
            </a:solidFill>
            <a:prstDash val="solid"/>
          </a:ln>
        </p:spPr>
      </p:sp>
      <p:sp>
        <p:nvSpPr>
          <p:cNvPr id="9" name="Text 6"/>
          <p:cNvSpPr/>
          <p:nvPr/>
        </p:nvSpPr>
        <p:spPr>
          <a:xfrm>
            <a:off x="7927848" y="5084064"/>
            <a:ext cx="3300984" cy="438912"/>
          </a:xfrm>
          <a:prstGeom prst="rect">
            <a:avLst/>
          </a:prstGeom>
          <a:noFill/>
          <a:ln/>
        </p:spPr>
        <p:txBody>
          <a:bodyPr wrap="square" lIns="0" tIns="0" rIns="0" bIns="0" rtlCol="0" anchor="ctr"/>
          <a:lstStyle/>
          <a:p>
            <a:pPr marL="0" indent="0" algn="ctr">
              <a:buNone/>
            </a:pPr>
            <a:r>
              <a:rPr lang="en-US" sz="1300" b="1" dirty="0">
                <a:solidFill>
                  <a:srgbClr val="115E59"/>
                </a:solidFill>
                <a:latin typeface="Yu Gothic" pitchFamily="34" charset="0"/>
                <a:ea typeface="Yu Gothic" pitchFamily="34" charset="-122"/>
                <a:cs typeface="Yu Gothic" pitchFamily="34" charset="-120"/>
              </a:rPr>
              <a:t>配置・縮尺・余白処理の自動化が</a:t>
            </a:r>
            <a:endParaRPr lang="en-US" sz="1300" dirty="0"/>
          </a:p>
          <a:p>
            <a:pPr marL="0" indent="0" algn="ctr">
              <a:buNone/>
            </a:pPr>
            <a:r>
              <a:rPr lang="en-US" sz="1300" b="1" dirty="0">
                <a:solidFill>
                  <a:srgbClr val="115E59"/>
                </a:solidFill>
                <a:latin typeface="Yu Gothic" pitchFamily="34" charset="0"/>
                <a:ea typeface="Yu Gothic" pitchFamily="34" charset="-122"/>
                <a:cs typeface="Yu Gothic" pitchFamily="34" charset="-120"/>
              </a:rPr>
              <a:t>今回の主な検証対象</a:t>
            </a:r>
            <a:endParaRPr lang="en-US" sz="1300" dirty="0"/>
          </a:p>
        </p:txBody>
      </p:sp>
      <p:sp>
        <p:nvSpPr>
          <p:cNvPr id="10" name="Text 7"/>
          <p:cNvSpPr/>
          <p:nvPr/>
        </p:nvSpPr>
        <p:spPr>
          <a:xfrm>
            <a:off x="713232" y="6263640"/>
            <a:ext cx="7772400" cy="201168"/>
          </a:xfrm>
          <a:prstGeom prst="rect">
            <a:avLst/>
          </a:prstGeom>
          <a:noFill/>
          <a:ln/>
        </p:spPr>
        <p:txBody>
          <a:bodyPr wrap="square" lIns="0" tIns="0" rIns="0" bIns="0" rtlCol="0" anchor="ctr"/>
          <a:lstStyle/>
          <a:p>
            <a:pPr marL="0" indent="0">
              <a:buNone/>
            </a:pPr>
            <a:r>
              <a:rPr lang="en-US" sz="800" dirty="0">
                <a:solidFill>
                  <a:srgbClr val="64748B"/>
                </a:solidFill>
                <a:latin typeface="Yu Gothic" pitchFamily="34" charset="0"/>
                <a:ea typeface="Yu Gothic" pitchFamily="34" charset="-122"/>
                <a:cs typeface="Yu Gothic" pitchFamily="34" charset="-120"/>
              </a:rPr>
              <a:t>参考: CADの使い方備忘録『3Dモデルから2D図を作図する方法』</a:t>
            </a:r>
            <a:endParaRPr lang="en-US" sz="800" dirty="0"/>
          </a:p>
        </p:txBody>
      </p:sp>
      <p:sp>
        <p:nvSpPr>
          <p:cNvPr id="11" name="Text 8"/>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7 / 13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まず1週間で最小サンプルを作り、継続判断を行う</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7/15: 再提案を行い、PoCの目的、実施範囲、成果物を確認する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7/16〜7/17: 以前の検討で使用したbitbybitを再利用し、まずSTEPサンプルまたは自作形状をブラウザ上に表示する。表示成立後、IGES・STLの読み込み可否も確認する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7/21〜7/22: 正面・上面・側面・アイソメビューの生成、外形範囲取得、自動トリミング、縮尺調整を実装する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7/23〜7/24: 指定用紙への自動配置と確認資料出力を試し、成果、課題、継続判断の材料をまとめる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8 / 13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7月15日の合意後、最小表示から確認資料出力まで段階的に進める</a:t>
            </a:r>
            <a:endParaRPr lang="en-US" sz="1600" dirty="0"/>
          </a:p>
        </p:txBody>
      </p:sp>
      <p:sp>
        <p:nvSpPr>
          <p:cNvPr id="5" name="Shape 3"/>
          <p:cNvSpPr/>
          <p:nvPr/>
        </p:nvSpPr>
        <p:spPr>
          <a:xfrm>
            <a:off x="2743200" y="1691640"/>
            <a:ext cx="832104" cy="3822192"/>
          </a:xfrm>
          <a:prstGeom prst="rect">
            <a:avLst/>
          </a:prstGeom>
          <a:solidFill>
            <a:srgbClr val="FFFFFF"/>
          </a:solidFill>
          <a:ln w="6350">
            <a:solidFill>
              <a:srgbClr val="CBD5E1"/>
            </a:solidFill>
            <a:prstDash val="solid"/>
          </a:ln>
        </p:spPr>
      </p:sp>
      <p:sp>
        <p:nvSpPr>
          <p:cNvPr id="6" name="Text 4"/>
          <p:cNvSpPr/>
          <p:nvPr/>
        </p:nvSpPr>
        <p:spPr>
          <a:xfrm>
            <a:off x="2743200"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7/15</a:t>
            </a:r>
            <a:endParaRPr lang="en-US" sz="1000" dirty="0"/>
          </a:p>
        </p:txBody>
      </p:sp>
      <p:sp>
        <p:nvSpPr>
          <p:cNvPr id="7" name="Shape 5"/>
          <p:cNvSpPr/>
          <p:nvPr/>
        </p:nvSpPr>
        <p:spPr>
          <a:xfrm>
            <a:off x="3575304" y="1691640"/>
            <a:ext cx="832104" cy="3822192"/>
          </a:xfrm>
          <a:prstGeom prst="rect">
            <a:avLst/>
          </a:prstGeom>
          <a:solidFill>
            <a:srgbClr val="FFFFFF"/>
          </a:solidFill>
          <a:ln w="6350">
            <a:solidFill>
              <a:srgbClr val="CBD5E1"/>
            </a:solidFill>
            <a:prstDash val="solid"/>
          </a:ln>
        </p:spPr>
      </p:sp>
      <p:sp>
        <p:nvSpPr>
          <p:cNvPr id="8" name="Text 6"/>
          <p:cNvSpPr/>
          <p:nvPr/>
        </p:nvSpPr>
        <p:spPr>
          <a:xfrm>
            <a:off x="3575304"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7/16</a:t>
            </a:r>
            <a:endParaRPr lang="en-US" sz="1000" dirty="0"/>
          </a:p>
        </p:txBody>
      </p:sp>
      <p:sp>
        <p:nvSpPr>
          <p:cNvPr id="9" name="Shape 7"/>
          <p:cNvSpPr/>
          <p:nvPr/>
        </p:nvSpPr>
        <p:spPr>
          <a:xfrm>
            <a:off x="4407408" y="1691640"/>
            <a:ext cx="832104" cy="3822192"/>
          </a:xfrm>
          <a:prstGeom prst="rect">
            <a:avLst/>
          </a:prstGeom>
          <a:solidFill>
            <a:srgbClr val="FFFFFF"/>
          </a:solidFill>
          <a:ln w="6350">
            <a:solidFill>
              <a:srgbClr val="CBD5E1"/>
            </a:solidFill>
            <a:prstDash val="solid"/>
          </a:ln>
        </p:spPr>
      </p:sp>
      <p:sp>
        <p:nvSpPr>
          <p:cNvPr id="10" name="Text 8"/>
          <p:cNvSpPr/>
          <p:nvPr/>
        </p:nvSpPr>
        <p:spPr>
          <a:xfrm>
            <a:off x="4407408"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7/17</a:t>
            </a:r>
            <a:endParaRPr lang="en-US" sz="1000" dirty="0"/>
          </a:p>
        </p:txBody>
      </p:sp>
      <p:sp>
        <p:nvSpPr>
          <p:cNvPr id="11" name="Shape 9"/>
          <p:cNvSpPr/>
          <p:nvPr/>
        </p:nvSpPr>
        <p:spPr>
          <a:xfrm>
            <a:off x="5239512" y="1691640"/>
            <a:ext cx="832104" cy="3822192"/>
          </a:xfrm>
          <a:prstGeom prst="rect">
            <a:avLst/>
          </a:prstGeom>
          <a:solidFill>
            <a:srgbClr val="F1F5F9"/>
          </a:solidFill>
          <a:ln w="6350">
            <a:solidFill>
              <a:srgbClr val="CBD5E1"/>
            </a:solidFill>
            <a:prstDash val="solid"/>
          </a:ln>
        </p:spPr>
      </p:sp>
      <p:sp>
        <p:nvSpPr>
          <p:cNvPr id="12" name="Text 10"/>
          <p:cNvSpPr/>
          <p:nvPr/>
        </p:nvSpPr>
        <p:spPr>
          <a:xfrm>
            <a:off x="5239512" y="1764792"/>
            <a:ext cx="832104" cy="228600"/>
          </a:xfrm>
          <a:prstGeom prst="rect">
            <a:avLst/>
          </a:prstGeom>
          <a:noFill/>
          <a:ln/>
        </p:spPr>
        <p:txBody>
          <a:bodyPr wrap="square" lIns="0" tIns="0" rIns="0" bIns="0" rtlCol="0" anchor="ctr"/>
          <a:lstStyle/>
          <a:p>
            <a:pPr marL="0" indent="0" algn="ctr">
              <a:buNone/>
            </a:pPr>
            <a:r>
              <a:rPr lang="en-US" sz="1000" b="1" dirty="0">
                <a:solidFill>
                  <a:srgbClr val="94A3B8"/>
                </a:solidFill>
                <a:latin typeface="Yu Gothic" pitchFamily="34" charset="0"/>
                <a:ea typeface="Yu Gothic" pitchFamily="34" charset="-122"/>
                <a:cs typeface="Yu Gothic" pitchFamily="34" charset="-120"/>
              </a:rPr>
              <a:t>7/18</a:t>
            </a:r>
            <a:endParaRPr lang="en-US" sz="1000" dirty="0"/>
          </a:p>
        </p:txBody>
      </p:sp>
      <p:sp>
        <p:nvSpPr>
          <p:cNvPr id="13" name="Text 11"/>
          <p:cNvSpPr/>
          <p:nvPr/>
        </p:nvSpPr>
        <p:spPr>
          <a:xfrm>
            <a:off x="5239512" y="2011680"/>
            <a:ext cx="832104" cy="182880"/>
          </a:xfrm>
          <a:prstGeom prst="rect">
            <a:avLst/>
          </a:prstGeom>
          <a:noFill/>
          <a:ln/>
        </p:spPr>
        <p:txBody>
          <a:bodyPr wrap="square" lIns="0" tIns="0" rIns="0" bIns="0" rtlCol="0" anchor="ctr"/>
          <a:lstStyle/>
          <a:p>
            <a:pPr marL="0" indent="0" algn="ctr">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4" name="Shape 12"/>
          <p:cNvSpPr/>
          <p:nvPr/>
        </p:nvSpPr>
        <p:spPr>
          <a:xfrm>
            <a:off x="6071616" y="1691640"/>
            <a:ext cx="832104" cy="3822192"/>
          </a:xfrm>
          <a:prstGeom prst="rect">
            <a:avLst/>
          </a:prstGeom>
          <a:solidFill>
            <a:srgbClr val="F1F5F9"/>
          </a:solidFill>
          <a:ln w="6350">
            <a:solidFill>
              <a:srgbClr val="CBD5E1"/>
            </a:solidFill>
            <a:prstDash val="solid"/>
          </a:ln>
        </p:spPr>
      </p:sp>
      <p:sp>
        <p:nvSpPr>
          <p:cNvPr id="15" name="Text 13"/>
          <p:cNvSpPr/>
          <p:nvPr/>
        </p:nvSpPr>
        <p:spPr>
          <a:xfrm>
            <a:off x="6071616" y="1764792"/>
            <a:ext cx="832104" cy="228600"/>
          </a:xfrm>
          <a:prstGeom prst="rect">
            <a:avLst/>
          </a:prstGeom>
          <a:noFill/>
          <a:ln/>
        </p:spPr>
        <p:txBody>
          <a:bodyPr wrap="square" lIns="0" tIns="0" rIns="0" bIns="0" rtlCol="0" anchor="ctr"/>
          <a:lstStyle/>
          <a:p>
            <a:pPr marL="0" indent="0" algn="ctr">
              <a:buNone/>
            </a:pPr>
            <a:r>
              <a:rPr lang="en-US" sz="1000" b="1" dirty="0">
                <a:solidFill>
                  <a:srgbClr val="94A3B8"/>
                </a:solidFill>
                <a:latin typeface="Yu Gothic" pitchFamily="34" charset="0"/>
                <a:ea typeface="Yu Gothic" pitchFamily="34" charset="-122"/>
                <a:cs typeface="Yu Gothic" pitchFamily="34" charset="-120"/>
              </a:rPr>
              <a:t>7/19</a:t>
            </a:r>
            <a:endParaRPr lang="en-US" sz="1000" dirty="0"/>
          </a:p>
        </p:txBody>
      </p:sp>
      <p:sp>
        <p:nvSpPr>
          <p:cNvPr id="16" name="Text 14"/>
          <p:cNvSpPr/>
          <p:nvPr/>
        </p:nvSpPr>
        <p:spPr>
          <a:xfrm>
            <a:off x="6071616" y="2011680"/>
            <a:ext cx="832104" cy="182880"/>
          </a:xfrm>
          <a:prstGeom prst="rect">
            <a:avLst/>
          </a:prstGeom>
          <a:noFill/>
          <a:ln/>
        </p:spPr>
        <p:txBody>
          <a:bodyPr wrap="square" lIns="0" tIns="0" rIns="0" bIns="0" rtlCol="0" anchor="ctr"/>
          <a:lstStyle/>
          <a:p>
            <a:pPr marL="0" indent="0" algn="ctr">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7" name="Shape 15"/>
          <p:cNvSpPr/>
          <p:nvPr/>
        </p:nvSpPr>
        <p:spPr>
          <a:xfrm>
            <a:off x="6903720" y="1691640"/>
            <a:ext cx="832104" cy="3822192"/>
          </a:xfrm>
          <a:prstGeom prst="rect">
            <a:avLst/>
          </a:prstGeom>
          <a:solidFill>
            <a:srgbClr val="F1F5F9"/>
          </a:solidFill>
          <a:ln w="6350">
            <a:solidFill>
              <a:srgbClr val="CBD5E1"/>
            </a:solidFill>
            <a:prstDash val="solid"/>
          </a:ln>
        </p:spPr>
      </p:sp>
      <p:sp>
        <p:nvSpPr>
          <p:cNvPr id="18" name="Text 16"/>
          <p:cNvSpPr/>
          <p:nvPr/>
        </p:nvSpPr>
        <p:spPr>
          <a:xfrm>
            <a:off x="6903720" y="1764792"/>
            <a:ext cx="832104" cy="228600"/>
          </a:xfrm>
          <a:prstGeom prst="rect">
            <a:avLst/>
          </a:prstGeom>
          <a:noFill/>
          <a:ln/>
        </p:spPr>
        <p:txBody>
          <a:bodyPr wrap="square" lIns="0" tIns="0" rIns="0" bIns="0" rtlCol="0" anchor="ctr"/>
          <a:lstStyle/>
          <a:p>
            <a:pPr marL="0" indent="0" algn="ctr">
              <a:buNone/>
            </a:pPr>
            <a:r>
              <a:rPr lang="en-US" sz="1000" b="1" dirty="0">
                <a:solidFill>
                  <a:srgbClr val="94A3B8"/>
                </a:solidFill>
                <a:latin typeface="Yu Gothic" pitchFamily="34" charset="0"/>
                <a:ea typeface="Yu Gothic" pitchFamily="34" charset="-122"/>
                <a:cs typeface="Yu Gothic" pitchFamily="34" charset="-120"/>
              </a:rPr>
              <a:t>7/20</a:t>
            </a:r>
            <a:endParaRPr lang="en-US" sz="1000" dirty="0"/>
          </a:p>
        </p:txBody>
      </p:sp>
      <p:sp>
        <p:nvSpPr>
          <p:cNvPr id="19" name="Text 17"/>
          <p:cNvSpPr/>
          <p:nvPr/>
        </p:nvSpPr>
        <p:spPr>
          <a:xfrm>
            <a:off x="6903720" y="2011680"/>
            <a:ext cx="832104" cy="182880"/>
          </a:xfrm>
          <a:prstGeom prst="rect">
            <a:avLst/>
          </a:prstGeom>
          <a:noFill/>
          <a:ln/>
        </p:spPr>
        <p:txBody>
          <a:bodyPr wrap="square" lIns="0" tIns="0" rIns="0" bIns="0" rtlCol="0" anchor="ctr"/>
          <a:lstStyle/>
          <a:p>
            <a:pPr marL="0" indent="0" algn="ctr">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20" name="Shape 18"/>
          <p:cNvSpPr/>
          <p:nvPr/>
        </p:nvSpPr>
        <p:spPr>
          <a:xfrm>
            <a:off x="7735824" y="1691640"/>
            <a:ext cx="832104" cy="3822192"/>
          </a:xfrm>
          <a:prstGeom prst="rect">
            <a:avLst/>
          </a:prstGeom>
          <a:solidFill>
            <a:srgbClr val="FFFFFF"/>
          </a:solidFill>
          <a:ln w="6350">
            <a:solidFill>
              <a:srgbClr val="CBD5E1"/>
            </a:solidFill>
            <a:prstDash val="solid"/>
          </a:ln>
        </p:spPr>
      </p:sp>
      <p:sp>
        <p:nvSpPr>
          <p:cNvPr id="21" name="Text 19"/>
          <p:cNvSpPr/>
          <p:nvPr/>
        </p:nvSpPr>
        <p:spPr>
          <a:xfrm>
            <a:off x="7735824"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7/21</a:t>
            </a:r>
            <a:endParaRPr lang="en-US" sz="1000" dirty="0"/>
          </a:p>
        </p:txBody>
      </p:sp>
      <p:sp>
        <p:nvSpPr>
          <p:cNvPr id="22" name="Shape 20"/>
          <p:cNvSpPr/>
          <p:nvPr/>
        </p:nvSpPr>
        <p:spPr>
          <a:xfrm>
            <a:off x="8567928" y="1691640"/>
            <a:ext cx="832104" cy="3822192"/>
          </a:xfrm>
          <a:prstGeom prst="rect">
            <a:avLst/>
          </a:prstGeom>
          <a:solidFill>
            <a:srgbClr val="FFFFFF"/>
          </a:solidFill>
          <a:ln w="6350">
            <a:solidFill>
              <a:srgbClr val="CBD5E1"/>
            </a:solidFill>
            <a:prstDash val="solid"/>
          </a:ln>
        </p:spPr>
      </p:sp>
      <p:sp>
        <p:nvSpPr>
          <p:cNvPr id="23" name="Text 21"/>
          <p:cNvSpPr/>
          <p:nvPr/>
        </p:nvSpPr>
        <p:spPr>
          <a:xfrm>
            <a:off x="8567928"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7/22</a:t>
            </a:r>
            <a:endParaRPr lang="en-US" sz="1000" dirty="0"/>
          </a:p>
        </p:txBody>
      </p:sp>
      <p:sp>
        <p:nvSpPr>
          <p:cNvPr id="24" name="Shape 22"/>
          <p:cNvSpPr/>
          <p:nvPr/>
        </p:nvSpPr>
        <p:spPr>
          <a:xfrm>
            <a:off x="9400032" y="1691640"/>
            <a:ext cx="832104" cy="3822192"/>
          </a:xfrm>
          <a:prstGeom prst="rect">
            <a:avLst/>
          </a:prstGeom>
          <a:solidFill>
            <a:srgbClr val="FFFFFF"/>
          </a:solidFill>
          <a:ln w="6350">
            <a:solidFill>
              <a:srgbClr val="CBD5E1"/>
            </a:solidFill>
            <a:prstDash val="solid"/>
          </a:ln>
        </p:spPr>
      </p:sp>
      <p:sp>
        <p:nvSpPr>
          <p:cNvPr id="25" name="Text 23"/>
          <p:cNvSpPr/>
          <p:nvPr/>
        </p:nvSpPr>
        <p:spPr>
          <a:xfrm>
            <a:off x="9400032"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7/23</a:t>
            </a:r>
            <a:endParaRPr lang="en-US" sz="1000" dirty="0"/>
          </a:p>
        </p:txBody>
      </p:sp>
      <p:sp>
        <p:nvSpPr>
          <p:cNvPr id="26" name="Shape 24"/>
          <p:cNvSpPr/>
          <p:nvPr/>
        </p:nvSpPr>
        <p:spPr>
          <a:xfrm>
            <a:off x="10232136" y="1691640"/>
            <a:ext cx="832104" cy="3822192"/>
          </a:xfrm>
          <a:prstGeom prst="rect">
            <a:avLst/>
          </a:prstGeom>
          <a:solidFill>
            <a:srgbClr val="FFFFFF"/>
          </a:solidFill>
          <a:ln w="6350">
            <a:solidFill>
              <a:srgbClr val="CBD5E1"/>
            </a:solidFill>
            <a:prstDash val="solid"/>
          </a:ln>
        </p:spPr>
      </p:sp>
      <p:sp>
        <p:nvSpPr>
          <p:cNvPr id="27" name="Text 25"/>
          <p:cNvSpPr/>
          <p:nvPr/>
        </p:nvSpPr>
        <p:spPr>
          <a:xfrm>
            <a:off x="10232136"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7/24</a:t>
            </a:r>
            <a:endParaRPr lang="en-US" sz="1000" dirty="0"/>
          </a:p>
        </p:txBody>
      </p:sp>
      <p:sp>
        <p:nvSpPr>
          <p:cNvPr id="28" name="Text 26"/>
          <p:cNvSpPr/>
          <p:nvPr/>
        </p:nvSpPr>
        <p:spPr>
          <a:xfrm>
            <a:off x="658368" y="2368296"/>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再提案・範囲確認</a:t>
            </a:r>
            <a:endParaRPr lang="en-US" sz="1200" dirty="0"/>
          </a:p>
        </p:txBody>
      </p:sp>
      <p:sp>
        <p:nvSpPr>
          <p:cNvPr id="29" name="Shape 27"/>
          <p:cNvSpPr/>
          <p:nvPr/>
        </p:nvSpPr>
        <p:spPr>
          <a:xfrm>
            <a:off x="2816352" y="2313432"/>
            <a:ext cx="685800" cy="438912"/>
          </a:xfrm>
          <a:prstGeom prst="roundRect">
            <a:avLst>
              <a:gd name="adj" fmla="val 12500"/>
            </a:avLst>
          </a:prstGeom>
          <a:solidFill>
            <a:srgbClr val="0F766E"/>
          </a:solidFill>
          <a:ln w="12700">
            <a:solidFill>
              <a:srgbClr val="0F766E"/>
            </a:solidFill>
            <a:prstDash val="solid"/>
          </a:ln>
        </p:spPr>
      </p:sp>
      <p:sp>
        <p:nvSpPr>
          <p:cNvPr id="30" name="Text 28"/>
          <p:cNvSpPr/>
          <p:nvPr/>
        </p:nvSpPr>
        <p:spPr>
          <a:xfrm>
            <a:off x="658368" y="3209544"/>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ブラウザ3D表示</a:t>
            </a:r>
            <a:endParaRPr lang="en-US" sz="1200" dirty="0"/>
          </a:p>
        </p:txBody>
      </p:sp>
      <p:sp>
        <p:nvSpPr>
          <p:cNvPr id="31" name="Shape 29"/>
          <p:cNvSpPr/>
          <p:nvPr/>
        </p:nvSpPr>
        <p:spPr>
          <a:xfrm>
            <a:off x="3648456" y="3154680"/>
            <a:ext cx="1517904" cy="438912"/>
          </a:xfrm>
          <a:prstGeom prst="roundRect">
            <a:avLst>
              <a:gd name="adj" fmla="val 12500"/>
            </a:avLst>
          </a:prstGeom>
          <a:solidFill>
            <a:srgbClr val="0284C7"/>
          </a:solidFill>
          <a:ln w="12700">
            <a:solidFill>
              <a:srgbClr val="0284C7"/>
            </a:solidFill>
            <a:prstDash val="solid"/>
          </a:ln>
        </p:spPr>
      </p:sp>
      <p:sp>
        <p:nvSpPr>
          <p:cNvPr id="32" name="Text 30"/>
          <p:cNvSpPr/>
          <p:nvPr/>
        </p:nvSpPr>
        <p:spPr>
          <a:xfrm>
            <a:off x="658368" y="4050792"/>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ビュー生成・調整</a:t>
            </a:r>
            <a:endParaRPr lang="en-US" sz="1200" dirty="0"/>
          </a:p>
        </p:txBody>
      </p:sp>
      <p:sp>
        <p:nvSpPr>
          <p:cNvPr id="33" name="Shape 31"/>
          <p:cNvSpPr/>
          <p:nvPr/>
        </p:nvSpPr>
        <p:spPr>
          <a:xfrm>
            <a:off x="7808976" y="3995928"/>
            <a:ext cx="1517904" cy="438912"/>
          </a:xfrm>
          <a:prstGeom prst="roundRect">
            <a:avLst>
              <a:gd name="adj" fmla="val 12500"/>
            </a:avLst>
          </a:prstGeom>
          <a:solidFill>
            <a:srgbClr val="7C3AED"/>
          </a:solidFill>
          <a:ln w="12700">
            <a:solidFill>
              <a:srgbClr val="7C3AED"/>
            </a:solidFill>
            <a:prstDash val="solid"/>
          </a:ln>
        </p:spPr>
      </p:sp>
      <p:sp>
        <p:nvSpPr>
          <p:cNvPr id="34" name="Text 32"/>
          <p:cNvSpPr/>
          <p:nvPr/>
        </p:nvSpPr>
        <p:spPr>
          <a:xfrm>
            <a:off x="658368" y="4892040"/>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資料出力・結果整理</a:t>
            </a:r>
            <a:endParaRPr lang="en-US" sz="1200" dirty="0"/>
          </a:p>
        </p:txBody>
      </p:sp>
      <p:sp>
        <p:nvSpPr>
          <p:cNvPr id="35" name="Shape 33"/>
          <p:cNvSpPr/>
          <p:nvPr/>
        </p:nvSpPr>
        <p:spPr>
          <a:xfrm>
            <a:off x="9473184" y="4837176"/>
            <a:ext cx="1517904" cy="438912"/>
          </a:xfrm>
          <a:prstGeom prst="roundRect">
            <a:avLst>
              <a:gd name="adj" fmla="val 12500"/>
            </a:avLst>
          </a:prstGeom>
          <a:solidFill>
            <a:srgbClr val="D97706"/>
          </a:solidFill>
          <a:ln w="12700">
            <a:solidFill>
              <a:srgbClr val="D97706"/>
            </a:solidFill>
            <a:prstDash val="solid"/>
          </a:ln>
        </p:spPr>
      </p:sp>
      <p:sp>
        <p:nvSpPr>
          <p:cNvPr id="36" name="Text 34"/>
          <p:cNvSpPr/>
          <p:nvPr/>
        </p:nvSpPr>
        <p:spPr>
          <a:xfrm>
            <a:off x="777240" y="5897880"/>
            <a:ext cx="10469880" cy="320040"/>
          </a:xfrm>
          <a:prstGeom prst="rect">
            <a:avLst/>
          </a:prstGeom>
          <a:noFill/>
          <a:ln/>
        </p:spPr>
        <p:txBody>
          <a:bodyPr wrap="square" lIns="0" tIns="0" rIns="0" bIns="0" rtlCol="0" anchor="ctr"/>
          <a:lstStyle/>
          <a:p>
            <a:pPr marL="0" indent="0" algn="ctr">
              <a:buNone/>
            </a:pPr>
            <a:r>
              <a:rPr lang="en-US" sz="1300" b="1" dirty="0">
                <a:solidFill>
                  <a:srgbClr val="0F766E"/>
                </a:solidFill>
                <a:latin typeface="Yu Gothic" pitchFamily="34" charset="0"/>
                <a:ea typeface="Yu Gothic" pitchFamily="34" charset="-122"/>
                <a:cs typeface="Yu Gothic" pitchFamily="34" charset="-120"/>
              </a:rPr>
              <a:t>7/16〜17は「準備」ではなく、最低1形式をブラウザで表示できる状態を最初の成果とする</a:t>
            </a:r>
            <a:endParaRPr lang="en-US" sz="1300" dirty="0"/>
          </a:p>
        </p:txBody>
      </p:sp>
      <p:sp>
        <p:nvSpPr>
          <p:cNvPr id="37" name="Text 35"/>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9 / 13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成功条件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この条件を満たせば、次の検証へ進む価値があると判断しやすい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3Dサンプルから正面・上面・側面・アイソメビューを自動生成できる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各ビューの外形範囲を取得し、不要な余白を自動で除去できる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指定された用紙内の配置領域に合わせて縮尺を自動調整できる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タイトル欄や押印欄を避けて、各ビューを重ならずに配置できる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配置結果を画像またはPDFとして出力し、既存案件で利用価値があるか判断できる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10 / 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データ取得方法とリスク</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会社側の価値と確認が必要な点</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ビューのトリミング、縮尺調整、用紙配置の手作業を減らせる可能性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CATIAライセンスがない人でも確認資料を見られる可能性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現在利用しているCATIAライセンスではSTEP出力に対応していないことを確認済み</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PoCでは、STEPサンプル、自作の簡単なSTEP形状、またはIGES・STLで確認資料生成を検証する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正式図面、品質保証、顧客納品物としての利用は、PoCとは別に会社判断が必要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11 / 13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PoCを既存案件支援や売上機会へつなげる流れ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まず自分の方で、確認資料自動生成の最小PoCを1週間で作る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社内レビューで、既存案件の確認資料・見積もり・顧客説明に使えるか確認する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価値がありそうなら、既存案件で試す用途を会社と相談して絞る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顧客説明資料や追加提案材料として使えるか判断する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価値が見えなければ、調査報告と代替案を残して終了する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12 / 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主導権はこちらで持ちつつ、会社側の優先度を確認したいこと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今回のPoCは、3Dデータから三面図風の確認資料を自動生成することを目標として進めたい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検証にはSTEPサンプルや自作形状を使う。会社で利用可能なIGES・STL等のデータがあれば追加検証したい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既存案件でより価値が高い用途があれば、途中レビュー時に優先順位を調整したい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1週間の初期PoC後に、継続、範囲変更、中止を判断する進め方でよいか確認したい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13 /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7242</TotalTime>
  <Words>529</Words>
  <Application>Microsoft Office PowerPoint</Application>
  <PresentationFormat>ワイド画面</PresentationFormat>
  <Paragraphs>127</Paragraphs>
  <Slides>13</Slides>
  <Notes>13</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13</vt:i4>
      </vt:variant>
    </vt:vector>
  </HeadingPairs>
  <TitlesOfParts>
    <vt:vector size="16" baseType="lpstr">
      <vt:lpstr>游ゴシック</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3Dデータから三面図・確認資料を自動生成するPoC提案</dc:title>
  <dc:subject>3Dデータから三面図・確認資料を自動生成するPoC提案</dc:subject>
  <dc:creator>MyReport</dc:creator>
  <cp:lastModifiedBy>白田 湧也</cp:lastModifiedBy>
  <cp:revision>2</cp:revision>
  <dcterms:created xsi:type="dcterms:W3CDTF">2026-07-14T07:40:13Z</dcterms:created>
  <dcterms:modified xsi:type="dcterms:W3CDTF">2026-07-19T08:23:48Z</dcterms:modified>
</cp:coreProperties>
</file>