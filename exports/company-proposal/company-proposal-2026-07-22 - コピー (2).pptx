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gif"/><Relationship Id="rId2" Type="http://schemas.openxmlformats.org/officeDocument/2006/relationships/image" Target="../media/image-6-2.gif"/><Relationship Id="rId3" Type="http://schemas.openxmlformats.org/officeDocument/2006/relationships/image" Target="../media/image-6-3.gif"/><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3Dデータを、確認・共有に使える資料へ変換する小規模検証</a:t>
            </a:r>
            <a:endParaRPr lang="en-US" sz="1600" dirty="0"/>
          </a:p>
        </p:txBody>
      </p:sp>
      <p:sp>
        <p:nvSpPr>
          <p:cNvPr id="5" name="Shape 3"/>
          <p:cNvSpPr/>
          <p:nvPr/>
        </p:nvSpPr>
        <p:spPr>
          <a:xfrm>
            <a:off x="658368" y="1664208"/>
            <a:ext cx="2834640" cy="3401568"/>
          </a:xfrm>
          <a:prstGeom prst="roundRect">
            <a:avLst>
              <a:gd name="adj" fmla="val 2581"/>
            </a:avLst>
          </a:prstGeom>
          <a:solidFill>
            <a:srgbClr val="E0F2FE"/>
          </a:solidFill>
          <a:ln w="17780">
            <a:solidFill>
              <a:srgbClr val="38BDF8"/>
            </a:solidFill>
            <a:prstDash val="solid"/>
          </a:ln>
        </p:spPr>
      </p:sp>
      <p:sp>
        <p:nvSpPr>
          <p:cNvPr id="6" name="Shape 4"/>
          <p:cNvSpPr/>
          <p:nvPr/>
        </p:nvSpPr>
        <p:spPr>
          <a:xfrm>
            <a:off x="4069080" y="1664208"/>
            <a:ext cx="3246120" cy="3401568"/>
          </a:xfrm>
          <a:prstGeom prst="roundRect">
            <a:avLst>
              <a:gd name="adj" fmla="val 2254"/>
            </a:avLst>
          </a:prstGeom>
          <a:solidFill>
            <a:srgbClr val="CCFBF1"/>
          </a:solidFill>
          <a:ln w="17780">
            <a:solidFill>
              <a:srgbClr val="2DD4BF"/>
            </a:solidFill>
            <a:prstDash val="solid"/>
          </a:ln>
        </p:spPr>
      </p:sp>
      <p:sp>
        <p:nvSpPr>
          <p:cNvPr id="7" name="Shape 5"/>
          <p:cNvSpPr/>
          <p:nvPr/>
        </p:nvSpPr>
        <p:spPr>
          <a:xfrm>
            <a:off x="7891272" y="1664208"/>
            <a:ext cx="3639312" cy="3401568"/>
          </a:xfrm>
          <a:prstGeom prst="roundRect">
            <a:avLst>
              <a:gd name="adj" fmla="val 2151"/>
            </a:avLst>
          </a:prstGeom>
          <a:solidFill>
            <a:srgbClr val="FEF3C7"/>
          </a:solidFill>
          <a:ln w="17780">
            <a:solidFill>
              <a:srgbClr val="F59E0B"/>
            </a:solidFill>
            <a:prstDash val="solid"/>
          </a:ln>
        </p:spPr>
      </p:sp>
      <p:sp>
        <p:nvSpPr>
          <p:cNvPr id="8" name="Shape 6"/>
          <p:cNvSpPr/>
          <p:nvPr/>
        </p:nvSpPr>
        <p:spPr>
          <a:xfrm>
            <a:off x="1389888" y="2148840"/>
            <a:ext cx="1371600" cy="1261872"/>
          </a:xfrm>
          <a:prstGeom prst="hexagon">
            <a:avLst/>
          </a:prstGeom>
          <a:solidFill>
            <a:srgbClr val="BAE6FD"/>
          </a:solidFill>
          <a:ln w="25400">
            <a:solidFill>
              <a:srgbClr val="0369A1"/>
            </a:solidFill>
            <a:prstDash val="solid"/>
          </a:ln>
        </p:spPr>
      </p:sp>
      <p:sp>
        <p:nvSpPr>
          <p:cNvPr id="9" name="Text 7"/>
          <p:cNvSpPr/>
          <p:nvPr/>
        </p:nvSpPr>
        <p:spPr>
          <a:xfrm>
            <a:off x="1682496" y="2542032"/>
            <a:ext cx="786384" cy="329184"/>
          </a:xfrm>
          <a:prstGeom prst="rect">
            <a:avLst/>
          </a:prstGeom>
          <a:noFill/>
          <a:ln/>
        </p:spPr>
        <p:txBody>
          <a:bodyPr wrap="square" lIns="0" tIns="0" rIns="0" bIns="0" rtlCol="0" anchor="ctr"/>
          <a:lstStyle/>
          <a:p>
            <a:pPr algn="ctr" indent="0" marL="0">
              <a:buNone/>
            </a:pPr>
            <a:r>
              <a:rPr lang="en-US" sz="2000" b="1" dirty="0">
                <a:solidFill>
                  <a:srgbClr val="075985"/>
                </a:solidFill>
                <a:latin typeface="Yu Gothic" pitchFamily="34" charset="0"/>
                <a:ea typeface="Yu Gothic" pitchFamily="34" charset="-122"/>
                <a:cs typeface="Yu Gothic" pitchFamily="34" charset="-120"/>
              </a:rPr>
              <a:t>3D</a:t>
            </a:r>
            <a:endParaRPr lang="en-US" sz="2000" dirty="0"/>
          </a:p>
        </p:txBody>
      </p:sp>
      <p:sp>
        <p:nvSpPr>
          <p:cNvPr id="10" name="Shape 8"/>
          <p:cNvSpPr/>
          <p:nvPr/>
        </p:nvSpPr>
        <p:spPr>
          <a:xfrm>
            <a:off x="4498848" y="2148840"/>
            <a:ext cx="987552" cy="694944"/>
          </a:xfrm>
          <a:prstGeom prst="rect">
            <a:avLst/>
          </a:prstGeom>
          <a:solidFill>
            <a:srgbClr val="FFFFFF"/>
          </a:solidFill>
          <a:ln w="15240">
            <a:solidFill>
              <a:srgbClr val="0F766E"/>
            </a:solidFill>
            <a:prstDash val="solid"/>
          </a:ln>
        </p:spPr>
      </p:sp>
      <p:sp>
        <p:nvSpPr>
          <p:cNvPr id="11" name="Shape 9"/>
          <p:cNvSpPr/>
          <p:nvPr/>
        </p:nvSpPr>
        <p:spPr>
          <a:xfrm>
            <a:off x="4791456" y="2295144"/>
            <a:ext cx="402336" cy="384048"/>
          </a:xfrm>
          <a:prstGeom prst="ellipse">
            <a:avLst/>
          </a:prstGeom>
          <a:solidFill>
            <a:srgbClr val="D1FAE5"/>
          </a:solidFill>
          <a:ln w="12700">
            <a:solidFill>
              <a:srgbClr val="0F766E"/>
            </a:solidFill>
            <a:prstDash val="solid"/>
          </a:ln>
        </p:spPr>
      </p:sp>
      <p:sp>
        <p:nvSpPr>
          <p:cNvPr id="12" name="Shape 10"/>
          <p:cNvSpPr/>
          <p:nvPr/>
        </p:nvSpPr>
        <p:spPr>
          <a:xfrm>
            <a:off x="5715000" y="2148840"/>
            <a:ext cx="987552" cy="694944"/>
          </a:xfrm>
          <a:prstGeom prst="rect">
            <a:avLst/>
          </a:prstGeom>
          <a:solidFill>
            <a:srgbClr val="FFFFFF"/>
          </a:solidFill>
          <a:ln w="15240">
            <a:solidFill>
              <a:srgbClr val="0F766E"/>
            </a:solidFill>
            <a:prstDash val="solid"/>
          </a:ln>
        </p:spPr>
      </p:sp>
      <p:sp>
        <p:nvSpPr>
          <p:cNvPr id="13" name="Shape 11"/>
          <p:cNvSpPr/>
          <p:nvPr/>
        </p:nvSpPr>
        <p:spPr>
          <a:xfrm>
            <a:off x="6007608" y="2295144"/>
            <a:ext cx="402336" cy="384048"/>
          </a:xfrm>
          <a:prstGeom prst="ellipse">
            <a:avLst/>
          </a:prstGeom>
          <a:solidFill>
            <a:srgbClr val="D1FAE5"/>
          </a:solidFill>
          <a:ln w="12700">
            <a:solidFill>
              <a:srgbClr val="0F766E"/>
            </a:solidFill>
            <a:prstDash val="solid"/>
          </a:ln>
        </p:spPr>
      </p:sp>
      <p:sp>
        <p:nvSpPr>
          <p:cNvPr id="14" name="Shape 12"/>
          <p:cNvSpPr/>
          <p:nvPr/>
        </p:nvSpPr>
        <p:spPr>
          <a:xfrm>
            <a:off x="4498848" y="3163824"/>
            <a:ext cx="987552" cy="694944"/>
          </a:xfrm>
          <a:prstGeom prst="rect">
            <a:avLst/>
          </a:prstGeom>
          <a:solidFill>
            <a:srgbClr val="FFFFFF"/>
          </a:solidFill>
          <a:ln w="15240">
            <a:solidFill>
              <a:srgbClr val="0F766E"/>
            </a:solidFill>
            <a:prstDash val="solid"/>
          </a:ln>
        </p:spPr>
      </p:sp>
      <p:sp>
        <p:nvSpPr>
          <p:cNvPr id="15" name="Shape 13"/>
          <p:cNvSpPr/>
          <p:nvPr/>
        </p:nvSpPr>
        <p:spPr>
          <a:xfrm>
            <a:off x="4791456" y="3310128"/>
            <a:ext cx="402336" cy="384048"/>
          </a:xfrm>
          <a:prstGeom prst="ellipse">
            <a:avLst/>
          </a:prstGeom>
          <a:solidFill>
            <a:srgbClr val="D1FAE5"/>
          </a:solidFill>
          <a:ln w="12700">
            <a:solidFill>
              <a:srgbClr val="0F766E"/>
            </a:solidFill>
            <a:prstDash val="solid"/>
          </a:ln>
        </p:spPr>
      </p:sp>
      <p:sp>
        <p:nvSpPr>
          <p:cNvPr id="16" name="Shape 14"/>
          <p:cNvSpPr/>
          <p:nvPr/>
        </p:nvSpPr>
        <p:spPr>
          <a:xfrm>
            <a:off x="5715000" y="3163824"/>
            <a:ext cx="987552" cy="694944"/>
          </a:xfrm>
          <a:prstGeom prst="rect">
            <a:avLst/>
          </a:prstGeom>
          <a:solidFill>
            <a:srgbClr val="FFFFFF"/>
          </a:solidFill>
          <a:ln w="15240">
            <a:solidFill>
              <a:srgbClr val="0F766E"/>
            </a:solidFill>
            <a:prstDash val="solid"/>
          </a:ln>
        </p:spPr>
      </p:sp>
      <p:sp>
        <p:nvSpPr>
          <p:cNvPr id="17" name="Shape 15"/>
          <p:cNvSpPr/>
          <p:nvPr/>
        </p:nvSpPr>
        <p:spPr>
          <a:xfrm>
            <a:off x="6007608" y="3310128"/>
            <a:ext cx="402336" cy="384048"/>
          </a:xfrm>
          <a:prstGeom prst="hexagon">
            <a:avLst/>
          </a:prstGeom>
          <a:solidFill>
            <a:srgbClr val="D1FAE5"/>
          </a:solidFill>
          <a:ln w="12700">
            <a:solidFill>
              <a:srgbClr val="0F766E"/>
            </a:solidFill>
            <a:prstDash val="solid"/>
          </a:ln>
        </p:spPr>
      </p:sp>
      <p:sp>
        <p:nvSpPr>
          <p:cNvPr id="18" name="Shape 16"/>
          <p:cNvSpPr/>
          <p:nvPr/>
        </p:nvSpPr>
        <p:spPr>
          <a:xfrm>
            <a:off x="8577072" y="2084832"/>
            <a:ext cx="2240280" cy="1572768"/>
          </a:xfrm>
          <a:prstGeom prst="rect">
            <a:avLst/>
          </a:prstGeom>
          <a:solidFill>
            <a:srgbClr val="FFFFFF"/>
          </a:solidFill>
          <a:ln w="19050">
            <a:solidFill>
              <a:srgbClr val="475569"/>
            </a:solidFill>
            <a:prstDash val="solid"/>
          </a:ln>
        </p:spPr>
      </p:sp>
      <p:sp>
        <p:nvSpPr>
          <p:cNvPr id="19" name="Shape 17"/>
          <p:cNvSpPr/>
          <p:nvPr/>
        </p:nvSpPr>
        <p:spPr>
          <a:xfrm>
            <a:off x="9811512" y="3063240"/>
            <a:ext cx="1005840" cy="594360"/>
          </a:xfrm>
          <a:prstGeom prst="rect">
            <a:avLst/>
          </a:prstGeom>
          <a:solidFill>
            <a:srgbClr val="FDE68A"/>
          </a:solidFill>
          <a:ln w="12700">
            <a:solidFill>
              <a:srgbClr val="B45309"/>
            </a:solidFill>
            <a:prstDash val="solid"/>
          </a:ln>
        </p:spPr>
      </p:sp>
      <p:sp>
        <p:nvSpPr>
          <p:cNvPr id="20" name="Shape 18"/>
          <p:cNvSpPr/>
          <p:nvPr/>
        </p:nvSpPr>
        <p:spPr>
          <a:xfrm>
            <a:off x="8814816" y="2331720"/>
            <a:ext cx="475488" cy="347472"/>
          </a:xfrm>
          <a:prstGeom prst="rect">
            <a:avLst/>
          </a:prstGeom>
          <a:solidFill>
            <a:srgbClr val="E2E8F0"/>
          </a:solidFill>
          <a:ln w="10160">
            <a:solidFill>
              <a:srgbClr val="64748B"/>
            </a:solidFill>
            <a:prstDash val="solid"/>
          </a:ln>
        </p:spPr>
      </p:sp>
      <p:sp>
        <p:nvSpPr>
          <p:cNvPr id="21" name="Shape 19"/>
          <p:cNvSpPr/>
          <p:nvPr/>
        </p:nvSpPr>
        <p:spPr>
          <a:xfrm>
            <a:off x="9464040" y="2331720"/>
            <a:ext cx="475488" cy="347472"/>
          </a:xfrm>
          <a:prstGeom prst="rect">
            <a:avLst/>
          </a:prstGeom>
          <a:solidFill>
            <a:srgbClr val="E2E8F0"/>
          </a:solidFill>
          <a:ln w="10160">
            <a:solidFill>
              <a:srgbClr val="64748B"/>
            </a:solidFill>
            <a:prstDash val="solid"/>
          </a:ln>
        </p:spPr>
      </p:sp>
      <p:sp>
        <p:nvSpPr>
          <p:cNvPr id="22" name="Shape 20"/>
          <p:cNvSpPr/>
          <p:nvPr/>
        </p:nvSpPr>
        <p:spPr>
          <a:xfrm>
            <a:off x="8814816" y="2907792"/>
            <a:ext cx="475488" cy="347472"/>
          </a:xfrm>
          <a:prstGeom prst="rect">
            <a:avLst/>
          </a:prstGeom>
          <a:solidFill>
            <a:srgbClr val="E2E8F0"/>
          </a:solidFill>
          <a:ln w="10160">
            <a:solidFill>
              <a:srgbClr val="64748B"/>
            </a:solidFill>
            <a:prstDash val="solid"/>
          </a:ln>
        </p:spPr>
      </p:sp>
      <p:sp>
        <p:nvSpPr>
          <p:cNvPr id="23" name="Shape 21"/>
          <p:cNvSpPr/>
          <p:nvPr/>
        </p:nvSpPr>
        <p:spPr>
          <a:xfrm>
            <a:off x="3502152" y="2798064"/>
            <a:ext cx="566928" cy="530352"/>
          </a:xfrm>
          <a:prstGeom prst="chevron">
            <a:avLst/>
          </a:prstGeom>
          <a:solidFill>
            <a:srgbClr val="99F6E4"/>
          </a:solidFill>
          <a:ln w="12700">
            <a:solidFill>
              <a:srgbClr val="5EEAD4"/>
            </a:solidFill>
            <a:prstDash val="solid"/>
          </a:ln>
        </p:spPr>
      </p:sp>
      <p:sp>
        <p:nvSpPr>
          <p:cNvPr id="24" name="Shape 22"/>
          <p:cNvSpPr/>
          <p:nvPr/>
        </p:nvSpPr>
        <p:spPr>
          <a:xfrm>
            <a:off x="7324344" y="2798064"/>
            <a:ext cx="566928" cy="530352"/>
          </a:xfrm>
          <a:prstGeom prst="chevron">
            <a:avLst/>
          </a:prstGeom>
          <a:solidFill>
            <a:srgbClr val="99F6E4"/>
          </a:solidFill>
          <a:ln w="12700">
            <a:solidFill>
              <a:srgbClr val="5EEAD4"/>
            </a:solidFill>
            <a:prstDash val="solid"/>
          </a:ln>
        </p:spPr>
      </p:sp>
      <p:sp>
        <p:nvSpPr>
          <p:cNvPr id="25" name="Text 23"/>
          <p:cNvSpPr/>
          <p:nvPr/>
        </p:nvSpPr>
        <p:spPr>
          <a:xfrm>
            <a:off x="841248" y="4005072"/>
            <a:ext cx="246888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Yu Gothic" pitchFamily="34" charset="0"/>
                <a:ea typeface="Yu Gothic" pitchFamily="34" charset="-122"/>
                <a:cs typeface="Yu Gothic" pitchFamily="34" charset="-120"/>
              </a:rPr>
              <a:t>入力</a:t>
            </a:r>
            <a:endParaRPr lang="en-US" sz="1200" dirty="0"/>
          </a:p>
        </p:txBody>
      </p:sp>
      <p:sp>
        <p:nvSpPr>
          <p:cNvPr id="26" name="Text 24"/>
          <p:cNvSpPr/>
          <p:nvPr/>
        </p:nvSpPr>
        <p:spPr>
          <a:xfrm>
            <a:off x="841248" y="4343400"/>
            <a:ext cx="2468880" cy="384048"/>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Yu Gothic" pitchFamily="34" charset="0"/>
                <a:ea typeface="Yu Gothic" pitchFamily="34" charset="-122"/>
                <a:cs typeface="Yu Gothic" pitchFamily="34" charset="-120"/>
              </a:rPr>
              <a:t>3Dデータ</a:t>
            </a:r>
            <a:endParaRPr lang="en-US" sz="1700" dirty="0"/>
          </a:p>
        </p:txBody>
      </p:sp>
      <p:sp>
        <p:nvSpPr>
          <p:cNvPr id="27" name="Text 25"/>
          <p:cNvSpPr/>
          <p:nvPr/>
        </p:nvSpPr>
        <p:spPr>
          <a:xfrm>
            <a:off x="4251960" y="4005072"/>
            <a:ext cx="2880360"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Yu Gothic" pitchFamily="34" charset="0"/>
                <a:ea typeface="Yu Gothic" pitchFamily="34" charset="-122"/>
                <a:cs typeface="Yu Gothic" pitchFamily="34" charset="-120"/>
              </a:rPr>
              <a:t>自動処理</a:t>
            </a:r>
            <a:endParaRPr lang="en-US" sz="1200" dirty="0"/>
          </a:p>
        </p:txBody>
      </p:sp>
      <p:sp>
        <p:nvSpPr>
          <p:cNvPr id="28" name="Text 26"/>
          <p:cNvSpPr/>
          <p:nvPr/>
        </p:nvSpPr>
        <p:spPr>
          <a:xfrm>
            <a:off x="4251960" y="4343400"/>
            <a:ext cx="2880360" cy="384048"/>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Yu Gothic" pitchFamily="34" charset="0"/>
                <a:ea typeface="Yu Gothic" pitchFamily="34" charset="-122"/>
                <a:cs typeface="Yu Gothic" pitchFamily="34" charset="-120"/>
              </a:rPr>
              <a:t>4方向ビューを生成・調整</a:t>
            </a:r>
            <a:endParaRPr lang="en-US" sz="1700" dirty="0"/>
          </a:p>
        </p:txBody>
      </p:sp>
      <p:sp>
        <p:nvSpPr>
          <p:cNvPr id="29" name="Text 27"/>
          <p:cNvSpPr/>
          <p:nvPr/>
        </p:nvSpPr>
        <p:spPr>
          <a:xfrm>
            <a:off x="8074152" y="4005072"/>
            <a:ext cx="3273552" cy="274320"/>
          </a:xfrm>
          <a:prstGeom prst="rect">
            <a:avLst/>
          </a:prstGeom>
          <a:noFill/>
          <a:ln/>
        </p:spPr>
        <p:txBody>
          <a:bodyPr wrap="square" lIns="0" tIns="0" rIns="0" bIns="0" rtlCol="0" anchor="ctr"/>
          <a:lstStyle/>
          <a:p>
            <a:pPr algn="ctr" indent="0" marL="0">
              <a:buNone/>
            </a:pPr>
            <a:r>
              <a:rPr lang="en-US" sz="1200" b="1" dirty="0">
                <a:solidFill>
                  <a:srgbClr val="64748B"/>
                </a:solidFill>
                <a:latin typeface="Yu Gothic" pitchFamily="34" charset="0"/>
                <a:ea typeface="Yu Gothic" pitchFamily="34" charset="-122"/>
                <a:cs typeface="Yu Gothic" pitchFamily="34" charset="-120"/>
              </a:rPr>
              <a:t>出力</a:t>
            </a:r>
            <a:endParaRPr lang="en-US" sz="1200" dirty="0"/>
          </a:p>
        </p:txBody>
      </p:sp>
      <p:sp>
        <p:nvSpPr>
          <p:cNvPr id="30" name="Text 28"/>
          <p:cNvSpPr/>
          <p:nvPr/>
        </p:nvSpPr>
        <p:spPr>
          <a:xfrm>
            <a:off x="8074152" y="4343400"/>
            <a:ext cx="3273552" cy="384048"/>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Yu Gothic" pitchFamily="34" charset="0"/>
                <a:ea typeface="Yu Gothic" pitchFamily="34" charset="-122"/>
                <a:cs typeface="Yu Gothic" pitchFamily="34" charset="-120"/>
              </a:rPr>
              <a:t>確認資料・PDF</a:t>
            </a:r>
            <a:endParaRPr lang="en-US" sz="1700" dirty="0"/>
          </a:p>
        </p:txBody>
      </p:sp>
      <p:sp>
        <p:nvSpPr>
          <p:cNvPr id="31" name="Text 29"/>
          <p:cNvSpPr/>
          <p:nvPr/>
        </p:nvSpPr>
        <p:spPr>
          <a:xfrm>
            <a:off x="1170432" y="5358384"/>
            <a:ext cx="9857232" cy="566928"/>
          </a:xfrm>
          <a:prstGeom prst="rect">
            <a:avLst/>
          </a:prstGeom>
          <a:solidFill>
            <a:srgbClr val="ECFDF5"/>
          </a:solidFill>
          <a:ln w="12700">
            <a:solidFill>
              <a:srgbClr val="A7F3D0"/>
            </a:solidFill>
          </a:ln>
        </p:spPr>
        <p:txBody>
          <a:bodyPr wrap="square" lIns="1016" tIns="1016" rIns="1016" bIns="1016" rtlCol="0" anchor="ctr"/>
          <a:lstStyle/>
          <a:p>
            <a:pPr algn="ctr" indent="0" marL="0">
              <a:buNone/>
            </a:pPr>
            <a:r>
              <a:rPr lang="en-US" sz="1800" b="1" dirty="0">
                <a:solidFill>
                  <a:srgbClr val="115E59"/>
                </a:solidFill>
                <a:latin typeface="Yu Gothic" pitchFamily="34" charset="0"/>
                <a:ea typeface="Yu Gothic" pitchFamily="34" charset="-122"/>
                <a:cs typeface="Yu Gothic" pitchFamily="34" charset="-120"/>
              </a:rPr>
              <a:t>まず1週間で最小サンプルを作り、既存案件で使う価値があるかを判断する</a:t>
            </a:r>
            <a:endParaRPr lang="en-US" sz="1800" dirty="0"/>
          </a:p>
        </p:txBody>
      </p:sp>
      <p:sp>
        <p:nvSpPr>
          <p:cNvPr id="32" name="Text 30"/>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13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3Dデータ周辺の確認・資料化を軽くし、既存案件を支援できるか確かめる</a:t>
            </a:r>
            <a:endParaRPr lang="en-US" sz="1600" dirty="0"/>
          </a:p>
        </p:txBody>
      </p:sp>
      <p:sp>
        <p:nvSpPr>
          <p:cNvPr id="5" name="Shape 3"/>
          <p:cNvSpPr/>
          <p:nvPr/>
        </p:nvSpPr>
        <p:spPr>
          <a:xfrm>
            <a:off x="658368" y="1664208"/>
            <a:ext cx="2880360" cy="932688"/>
          </a:xfrm>
          <a:prstGeom prst="roundRect">
            <a:avLst>
              <a:gd name="adj" fmla="val 5882"/>
            </a:avLst>
          </a:prstGeom>
          <a:solidFill>
            <a:srgbClr val="F8FAFC"/>
          </a:solidFill>
          <a:ln w="12700">
            <a:solidFill>
              <a:srgbClr val="CBD5E1"/>
            </a:solidFill>
            <a:prstDash val="solid"/>
          </a:ln>
        </p:spPr>
      </p:sp>
      <p:sp>
        <p:nvSpPr>
          <p:cNvPr id="6" name="Shape 4"/>
          <p:cNvSpPr/>
          <p:nvPr/>
        </p:nvSpPr>
        <p:spPr>
          <a:xfrm>
            <a:off x="859536" y="1837944"/>
            <a:ext cx="566928" cy="566928"/>
          </a:xfrm>
          <a:prstGeom prst="ellipse">
            <a:avLst/>
          </a:prstGeom>
          <a:solidFill>
            <a:srgbClr val="0F766E"/>
          </a:solidFill>
          <a:ln w="12700">
            <a:solidFill>
              <a:srgbClr val="0F766E"/>
            </a:solidFill>
            <a:prstDash val="solid"/>
          </a:ln>
        </p:spPr>
      </p:sp>
      <p:sp>
        <p:nvSpPr>
          <p:cNvPr id="7" name="Text 5"/>
          <p:cNvSpPr/>
          <p:nvPr/>
        </p:nvSpPr>
        <p:spPr>
          <a:xfrm>
            <a:off x="859536" y="1956816"/>
            <a:ext cx="56692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設</a:t>
            </a:r>
            <a:endParaRPr lang="en-US" sz="1300" dirty="0"/>
          </a:p>
        </p:txBody>
      </p:sp>
      <p:sp>
        <p:nvSpPr>
          <p:cNvPr id="8" name="Text 6"/>
          <p:cNvSpPr/>
          <p:nvPr/>
        </p:nvSpPr>
        <p:spPr>
          <a:xfrm>
            <a:off x="1572768" y="1810512"/>
            <a:ext cx="1664208" cy="256032"/>
          </a:xfrm>
          <a:prstGeom prst="rect">
            <a:avLst/>
          </a:prstGeom>
          <a:noFill/>
          <a:ln/>
        </p:spPr>
        <p:txBody>
          <a:bodyPr wrap="square" lIns="0" tIns="0" rIns="0" bIns="0" rtlCol="0" anchor="ctr"/>
          <a:lstStyle/>
          <a:p>
            <a:pPr indent="0" marL="0">
              <a:buNone/>
            </a:pPr>
            <a:r>
              <a:rPr lang="en-US" sz="1500" b="1" dirty="0">
                <a:solidFill>
                  <a:srgbClr val="0F172A"/>
                </a:solidFill>
                <a:latin typeface="Yu Gothic" pitchFamily="34" charset="0"/>
                <a:ea typeface="Yu Gothic" pitchFamily="34" charset="-122"/>
                <a:cs typeface="Yu Gothic" pitchFamily="34" charset="-120"/>
              </a:rPr>
              <a:t>設計者</a:t>
            </a:r>
            <a:endParaRPr lang="en-US" sz="1500" dirty="0"/>
          </a:p>
        </p:txBody>
      </p:sp>
      <p:sp>
        <p:nvSpPr>
          <p:cNvPr id="9" name="Text 7"/>
          <p:cNvSpPr/>
          <p:nvPr/>
        </p:nvSpPr>
        <p:spPr>
          <a:xfrm>
            <a:off x="1572768" y="2139696"/>
            <a:ext cx="1755648" cy="219456"/>
          </a:xfrm>
          <a:prstGeom prst="rect">
            <a:avLst/>
          </a:prstGeom>
          <a:noFill/>
          <a:ln/>
        </p:spPr>
        <p:txBody>
          <a:bodyPr wrap="square" lIns="0" tIns="0" rIns="0" bIns="0" rtlCol="0" anchor="ctr">
            <a:normAutofit/>
          </a:bodyPr>
          <a:lstStyle/>
          <a:p>
            <a:pPr indent="0" marL="0">
              <a:buNone/>
            </a:pPr>
            <a:r>
              <a:rPr lang="en-US" sz="1000" dirty="0">
                <a:solidFill>
                  <a:srgbClr val="64748B"/>
                </a:solidFill>
                <a:latin typeface="Yu Gothic" pitchFamily="34" charset="0"/>
                <a:ea typeface="Yu Gothic" pitchFamily="34" charset="-122"/>
                <a:cs typeface="Yu Gothic" pitchFamily="34" charset="-120"/>
              </a:rPr>
              <a:t>確認資料を作る手間</a:t>
            </a:r>
            <a:endParaRPr lang="en-US" sz="1000" dirty="0"/>
          </a:p>
        </p:txBody>
      </p:sp>
      <p:sp>
        <p:nvSpPr>
          <p:cNvPr id="10" name="Shape 8"/>
          <p:cNvSpPr/>
          <p:nvPr/>
        </p:nvSpPr>
        <p:spPr>
          <a:xfrm>
            <a:off x="3584448" y="1865376"/>
            <a:ext cx="530352" cy="530352"/>
          </a:xfrm>
          <a:prstGeom prst="chevron">
            <a:avLst/>
          </a:prstGeom>
          <a:solidFill>
            <a:srgbClr val="99F6E4"/>
          </a:solidFill>
          <a:ln w="12700">
            <a:solidFill>
              <a:srgbClr val="5EEAD4"/>
            </a:solidFill>
            <a:prstDash val="solid"/>
          </a:ln>
        </p:spPr>
      </p:sp>
      <p:sp>
        <p:nvSpPr>
          <p:cNvPr id="11" name="Shape 9"/>
          <p:cNvSpPr/>
          <p:nvPr/>
        </p:nvSpPr>
        <p:spPr>
          <a:xfrm>
            <a:off x="658368" y="2871216"/>
            <a:ext cx="2880360" cy="932688"/>
          </a:xfrm>
          <a:prstGeom prst="roundRect">
            <a:avLst>
              <a:gd name="adj" fmla="val 5882"/>
            </a:avLst>
          </a:prstGeom>
          <a:solidFill>
            <a:srgbClr val="F8FAFC"/>
          </a:solidFill>
          <a:ln w="12700">
            <a:solidFill>
              <a:srgbClr val="CBD5E1"/>
            </a:solidFill>
            <a:prstDash val="solid"/>
          </a:ln>
        </p:spPr>
      </p:sp>
      <p:sp>
        <p:nvSpPr>
          <p:cNvPr id="12" name="Shape 10"/>
          <p:cNvSpPr/>
          <p:nvPr/>
        </p:nvSpPr>
        <p:spPr>
          <a:xfrm>
            <a:off x="859536" y="3044952"/>
            <a:ext cx="566928" cy="566928"/>
          </a:xfrm>
          <a:prstGeom prst="ellipse">
            <a:avLst/>
          </a:prstGeom>
          <a:solidFill>
            <a:srgbClr val="0F766E"/>
          </a:solidFill>
          <a:ln w="12700">
            <a:solidFill>
              <a:srgbClr val="0F766E"/>
            </a:solidFill>
            <a:prstDash val="solid"/>
          </a:ln>
        </p:spPr>
      </p:sp>
      <p:sp>
        <p:nvSpPr>
          <p:cNvPr id="13" name="Text 11"/>
          <p:cNvSpPr/>
          <p:nvPr/>
        </p:nvSpPr>
        <p:spPr>
          <a:xfrm>
            <a:off x="859536" y="3163824"/>
            <a:ext cx="56692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営</a:t>
            </a:r>
            <a:endParaRPr lang="en-US" sz="1300" dirty="0"/>
          </a:p>
        </p:txBody>
      </p:sp>
      <p:sp>
        <p:nvSpPr>
          <p:cNvPr id="14" name="Text 12"/>
          <p:cNvSpPr/>
          <p:nvPr/>
        </p:nvSpPr>
        <p:spPr>
          <a:xfrm>
            <a:off x="1572768" y="3017520"/>
            <a:ext cx="1664208" cy="256032"/>
          </a:xfrm>
          <a:prstGeom prst="rect">
            <a:avLst/>
          </a:prstGeom>
          <a:noFill/>
          <a:ln/>
        </p:spPr>
        <p:txBody>
          <a:bodyPr wrap="square" lIns="0" tIns="0" rIns="0" bIns="0" rtlCol="0" anchor="ctr"/>
          <a:lstStyle/>
          <a:p>
            <a:pPr indent="0" marL="0">
              <a:buNone/>
            </a:pPr>
            <a:r>
              <a:rPr lang="en-US" sz="1500" b="1" dirty="0">
                <a:solidFill>
                  <a:srgbClr val="0F172A"/>
                </a:solidFill>
                <a:latin typeface="Yu Gothic" pitchFamily="34" charset="0"/>
                <a:ea typeface="Yu Gothic" pitchFamily="34" charset="-122"/>
                <a:cs typeface="Yu Gothic" pitchFamily="34" charset="-120"/>
              </a:rPr>
              <a:t>営業・見積</a:t>
            </a:r>
            <a:endParaRPr lang="en-US" sz="1500" dirty="0"/>
          </a:p>
        </p:txBody>
      </p:sp>
      <p:sp>
        <p:nvSpPr>
          <p:cNvPr id="15" name="Text 13"/>
          <p:cNvSpPr/>
          <p:nvPr/>
        </p:nvSpPr>
        <p:spPr>
          <a:xfrm>
            <a:off x="1572768" y="3346704"/>
            <a:ext cx="1755648" cy="219456"/>
          </a:xfrm>
          <a:prstGeom prst="rect">
            <a:avLst/>
          </a:prstGeom>
          <a:noFill/>
          <a:ln/>
        </p:spPr>
        <p:txBody>
          <a:bodyPr wrap="square" lIns="0" tIns="0" rIns="0" bIns="0" rtlCol="0" anchor="ctr">
            <a:normAutofit/>
          </a:bodyPr>
          <a:lstStyle/>
          <a:p>
            <a:pPr indent="0" marL="0">
              <a:buNone/>
            </a:pPr>
            <a:r>
              <a:rPr lang="en-US" sz="1000" dirty="0">
                <a:solidFill>
                  <a:srgbClr val="64748B"/>
                </a:solidFill>
                <a:latin typeface="Yu Gothic" pitchFamily="34" charset="0"/>
                <a:ea typeface="Yu Gothic" pitchFamily="34" charset="-122"/>
                <a:cs typeface="Yu Gothic" pitchFamily="34" charset="-120"/>
              </a:rPr>
              <a:t>形状を説明する資料</a:t>
            </a:r>
            <a:endParaRPr lang="en-US" sz="1000" dirty="0"/>
          </a:p>
        </p:txBody>
      </p:sp>
      <p:sp>
        <p:nvSpPr>
          <p:cNvPr id="16" name="Shape 14"/>
          <p:cNvSpPr/>
          <p:nvPr/>
        </p:nvSpPr>
        <p:spPr>
          <a:xfrm>
            <a:off x="3584448" y="3072384"/>
            <a:ext cx="530352" cy="530352"/>
          </a:xfrm>
          <a:prstGeom prst="chevron">
            <a:avLst/>
          </a:prstGeom>
          <a:solidFill>
            <a:srgbClr val="99F6E4"/>
          </a:solidFill>
          <a:ln w="12700">
            <a:solidFill>
              <a:srgbClr val="5EEAD4"/>
            </a:solidFill>
            <a:prstDash val="solid"/>
          </a:ln>
        </p:spPr>
      </p:sp>
      <p:sp>
        <p:nvSpPr>
          <p:cNvPr id="17" name="Shape 15"/>
          <p:cNvSpPr/>
          <p:nvPr/>
        </p:nvSpPr>
        <p:spPr>
          <a:xfrm>
            <a:off x="658368" y="4078224"/>
            <a:ext cx="2880360" cy="932688"/>
          </a:xfrm>
          <a:prstGeom prst="roundRect">
            <a:avLst>
              <a:gd name="adj" fmla="val 5882"/>
            </a:avLst>
          </a:prstGeom>
          <a:solidFill>
            <a:srgbClr val="F8FAFC"/>
          </a:solidFill>
          <a:ln w="12700">
            <a:solidFill>
              <a:srgbClr val="CBD5E1"/>
            </a:solidFill>
            <a:prstDash val="solid"/>
          </a:ln>
        </p:spPr>
      </p:sp>
      <p:sp>
        <p:nvSpPr>
          <p:cNvPr id="18" name="Shape 16"/>
          <p:cNvSpPr/>
          <p:nvPr/>
        </p:nvSpPr>
        <p:spPr>
          <a:xfrm>
            <a:off x="859536" y="4251960"/>
            <a:ext cx="566928" cy="566928"/>
          </a:xfrm>
          <a:prstGeom prst="ellipse">
            <a:avLst/>
          </a:prstGeom>
          <a:solidFill>
            <a:srgbClr val="0F766E"/>
          </a:solidFill>
          <a:ln w="12700">
            <a:solidFill>
              <a:srgbClr val="0F766E"/>
            </a:solidFill>
            <a:prstDash val="solid"/>
          </a:ln>
        </p:spPr>
      </p:sp>
      <p:sp>
        <p:nvSpPr>
          <p:cNvPr id="19" name="Text 17"/>
          <p:cNvSpPr/>
          <p:nvPr/>
        </p:nvSpPr>
        <p:spPr>
          <a:xfrm>
            <a:off x="859536" y="4370832"/>
            <a:ext cx="566928" cy="2286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客</a:t>
            </a:r>
            <a:endParaRPr lang="en-US" sz="1300" dirty="0"/>
          </a:p>
        </p:txBody>
      </p:sp>
      <p:sp>
        <p:nvSpPr>
          <p:cNvPr id="20" name="Text 18"/>
          <p:cNvSpPr/>
          <p:nvPr/>
        </p:nvSpPr>
        <p:spPr>
          <a:xfrm>
            <a:off x="1572768" y="4224528"/>
            <a:ext cx="1664208" cy="256032"/>
          </a:xfrm>
          <a:prstGeom prst="rect">
            <a:avLst/>
          </a:prstGeom>
          <a:noFill/>
          <a:ln/>
        </p:spPr>
        <p:txBody>
          <a:bodyPr wrap="square" lIns="0" tIns="0" rIns="0" bIns="0" rtlCol="0" anchor="ctr"/>
          <a:lstStyle/>
          <a:p>
            <a:pPr indent="0" marL="0">
              <a:buNone/>
            </a:pPr>
            <a:r>
              <a:rPr lang="en-US" sz="1500" b="1" dirty="0">
                <a:solidFill>
                  <a:srgbClr val="0F172A"/>
                </a:solidFill>
                <a:latin typeface="Yu Gothic" pitchFamily="34" charset="0"/>
                <a:ea typeface="Yu Gothic" pitchFamily="34" charset="-122"/>
                <a:cs typeface="Yu Gothic" pitchFamily="34" charset="-120"/>
              </a:rPr>
              <a:t>顧客説明</a:t>
            </a:r>
            <a:endParaRPr lang="en-US" sz="1500" dirty="0"/>
          </a:p>
        </p:txBody>
      </p:sp>
      <p:sp>
        <p:nvSpPr>
          <p:cNvPr id="21" name="Text 19"/>
          <p:cNvSpPr/>
          <p:nvPr/>
        </p:nvSpPr>
        <p:spPr>
          <a:xfrm>
            <a:off x="1572768" y="4553712"/>
            <a:ext cx="1755648" cy="219456"/>
          </a:xfrm>
          <a:prstGeom prst="rect">
            <a:avLst/>
          </a:prstGeom>
          <a:noFill/>
          <a:ln/>
        </p:spPr>
        <p:txBody>
          <a:bodyPr wrap="square" lIns="0" tIns="0" rIns="0" bIns="0" rtlCol="0" anchor="ctr">
            <a:normAutofit/>
          </a:bodyPr>
          <a:lstStyle/>
          <a:p>
            <a:pPr indent="0" marL="0">
              <a:buNone/>
            </a:pPr>
            <a:r>
              <a:rPr lang="en-US" sz="1000" dirty="0">
                <a:solidFill>
                  <a:srgbClr val="64748B"/>
                </a:solidFill>
                <a:latin typeface="Yu Gothic" pitchFamily="34" charset="0"/>
                <a:ea typeface="Yu Gothic" pitchFamily="34" charset="-122"/>
                <a:cs typeface="Yu Gothic" pitchFamily="34" charset="-120"/>
              </a:rPr>
              <a:t>CADなしで見られる資料</a:t>
            </a:r>
            <a:endParaRPr lang="en-US" sz="1000" dirty="0"/>
          </a:p>
        </p:txBody>
      </p:sp>
      <p:sp>
        <p:nvSpPr>
          <p:cNvPr id="22" name="Shape 20"/>
          <p:cNvSpPr/>
          <p:nvPr/>
        </p:nvSpPr>
        <p:spPr>
          <a:xfrm>
            <a:off x="3584448" y="4279392"/>
            <a:ext cx="530352" cy="530352"/>
          </a:xfrm>
          <a:prstGeom prst="chevron">
            <a:avLst/>
          </a:prstGeom>
          <a:solidFill>
            <a:srgbClr val="99F6E4"/>
          </a:solidFill>
          <a:ln w="12700">
            <a:solidFill>
              <a:srgbClr val="5EEAD4"/>
            </a:solidFill>
            <a:prstDash val="solid"/>
          </a:ln>
        </p:spPr>
      </p:sp>
      <p:sp>
        <p:nvSpPr>
          <p:cNvPr id="23" name="Shape 21"/>
          <p:cNvSpPr/>
          <p:nvPr/>
        </p:nvSpPr>
        <p:spPr>
          <a:xfrm>
            <a:off x="4224528" y="1993392"/>
            <a:ext cx="3108960" cy="2615184"/>
          </a:xfrm>
          <a:prstGeom prst="roundRect">
            <a:avLst>
              <a:gd name="adj" fmla="val 2797"/>
            </a:avLst>
          </a:prstGeom>
          <a:solidFill>
            <a:srgbClr val="CCFBF1"/>
          </a:solidFill>
          <a:ln w="20320">
            <a:solidFill>
              <a:srgbClr val="14B8A6"/>
            </a:solidFill>
            <a:prstDash val="solid"/>
          </a:ln>
        </p:spPr>
      </p:sp>
      <p:sp>
        <p:nvSpPr>
          <p:cNvPr id="24" name="Text 22"/>
          <p:cNvSpPr/>
          <p:nvPr/>
        </p:nvSpPr>
        <p:spPr>
          <a:xfrm>
            <a:off x="4681728" y="2304288"/>
            <a:ext cx="2194560" cy="310896"/>
          </a:xfrm>
          <a:prstGeom prst="rect">
            <a:avLst/>
          </a:prstGeom>
          <a:noFill/>
          <a:ln/>
        </p:spPr>
        <p:txBody>
          <a:bodyPr wrap="square" lIns="0" tIns="0" rIns="0" bIns="0" rtlCol="0" anchor="ctr"/>
          <a:lstStyle/>
          <a:p>
            <a:pPr algn="ctr" indent="0" marL="0">
              <a:buNone/>
            </a:pPr>
            <a:r>
              <a:rPr lang="en-US" sz="1400" b="1" dirty="0">
                <a:solidFill>
                  <a:srgbClr val="0F766E"/>
                </a:solidFill>
                <a:latin typeface="Yu Gothic" pitchFamily="34" charset="0"/>
                <a:ea typeface="Yu Gothic" pitchFamily="34" charset="-122"/>
                <a:cs typeface="Yu Gothic" pitchFamily="34" charset="-120"/>
              </a:rPr>
              <a:t>今回のPoC</a:t>
            </a:r>
            <a:endParaRPr lang="en-US" sz="1400" dirty="0"/>
          </a:p>
        </p:txBody>
      </p:sp>
      <p:sp>
        <p:nvSpPr>
          <p:cNvPr id="25" name="Text 23"/>
          <p:cNvSpPr/>
          <p:nvPr/>
        </p:nvSpPr>
        <p:spPr>
          <a:xfrm>
            <a:off x="4572000" y="2852928"/>
            <a:ext cx="2414016" cy="841248"/>
          </a:xfrm>
          <a:prstGeom prst="rect">
            <a:avLst/>
          </a:prstGeom>
          <a:noFill/>
          <a:ln/>
        </p:spPr>
        <p:txBody>
          <a:bodyPr wrap="square" lIns="0" tIns="0" rIns="0" bIns="0" rtlCol="0" anchor="ctr"/>
          <a:lstStyle/>
          <a:p>
            <a:pPr algn="ctr" indent="0" marL="0">
              <a:buNone/>
            </a:pPr>
            <a:r>
              <a:rPr lang="en-US" sz="2100" b="1" dirty="0">
                <a:solidFill>
                  <a:srgbClr val="134E4A"/>
                </a:solidFill>
                <a:latin typeface="Yu Gothic" pitchFamily="34" charset="0"/>
                <a:ea typeface="Yu Gothic" pitchFamily="34" charset="-122"/>
                <a:cs typeface="Yu Gothic" pitchFamily="34" charset="-120"/>
              </a:rPr>
              <a:t>3Dデータから</a:t>
            </a:r>
            <a:endParaRPr lang="en-US" sz="2100" dirty="0"/>
          </a:p>
          <a:p>
            <a:pPr algn="ctr" indent="0" marL="0">
              <a:buNone/>
            </a:pPr>
            <a:r>
              <a:rPr lang="en-US" sz="2100" b="1" dirty="0">
                <a:solidFill>
                  <a:srgbClr val="134E4A"/>
                </a:solidFill>
                <a:latin typeface="Yu Gothic" pitchFamily="34" charset="0"/>
                <a:ea typeface="Yu Gothic" pitchFamily="34" charset="-122"/>
                <a:cs typeface="Yu Gothic" pitchFamily="34" charset="-120"/>
              </a:rPr>
              <a:t>確認資料を自動生成</a:t>
            </a:r>
            <a:endParaRPr lang="en-US" sz="2100" dirty="0"/>
          </a:p>
        </p:txBody>
      </p:sp>
      <p:sp>
        <p:nvSpPr>
          <p:cNvPr id="26" name="Shape 24"/>
          <p:cNvSpPr/>
          <p:nvPr/>
        </p:nvSpPr>
        <p:spPr>
          <a:xfrm>
            <a:off x="7406640" y="2999232"/>
            <a:ext cx="594360" cy="530352"/>
          </a:xfrm>
          <a:prstGeom prst="chevron">
            <a:avLst/>
          </a:prstGeom>
          <a:solidFill>
            <a:srgbClr val="99F6E4"/>
          </a:solidFill>
          <a:ln w="12700">
            <a:solidFill>
              <a:srgbClr val="5EEAD4"/>
            </a:solidFill>
            <a:prstDash val="solid"/>
          </a:ln>
        </p:spPr>
      </p:sp>
      <p:sp>
        <p:nvSpPr>
          <p:cNvPr id="27" name="Shape 25"/>
          <p:cNvSpPr/>
          <p:nvPr/>
        </p:nvSpPr>
        <p:spPr>
          <a:xfrm>
            <a:off x="8119872" y="1664208"/>
            <a:ext cx="3401568" cy="3310128"/>
          </a:xfrm>
          <a:prstGeom prst="roundRect">
            <a:avLst>
              <a:gd name="adj" fmla="val 2210"/>
            </a:avLst>
          </a:prstGeom>
          <a:solidFill>
            <a:srgbClr val="FEF3C7"/>
          </a:solidFill>
          <a:ln w="17780">
            <a:solidFill>
              <a:srgbClr val="F59E0B"/>
            </a:solidFill>
            <a:prstDash val="solid"/>
          </a:ln>
        </p:spPr>
      </p:sp>
      <p:sp>
        <p:nvSpPr>
          <p:cNvPr id="28" name="Text 26"/>
          <p:cNvSpPr/>
          <p:nvPr/>
        </p:nvSpPr>
        <p:spPr>
          <a:xfrm>
            <a:off x="8522208" y="1993392"/>
            <a:ext cx="2596896" cy="320040"/>
          </a:xfrm>
          <a:prstGeom prst="rect">
            <a:avLst/>
          </a:prstGeom>
          <a:noFill/>
          <a:ln/>
        </p:spPr>
        <p:txBody>
          <a:bodyPr wrap="square" lIns="0" tIns="0" rIns="0" bIns="0" rtlCol="0" anchor="ctr"/>
          <a:lstStyle/>
          <a:p>
            <a:pPr algn="ctr" indent="0" marL="0">
              <a:buNone/>
            </a:pPr>
            <a:r>
              <a:rPr lang="en-US" sz="1500" b="1" dirty="0">
                <a:solidFill>
                  <a:srgbClr val="92400E"/>
                </a:solidFill>
                <a:latin typeface="Yu Gothic" pitchFamily="34" charset="0"/>
                <a:ea typeface="Yu Gothic" pitchFamily="34" charset="-122"/>
                <a:cs typeface="Yu Gothic" pitchFamily="34" charset="-120"/>
              </a:rPr>
              <a:t>判断したいこと</a:t>
            </a:r>
            <a:endParaRPr lang="en-US" sz="1500" dirty="0"/>
          </a:p>
        </p:txBody>
      </p:sp>
      <p:sp>
        <p:nvSpPr>
          <p:cNvPr id="29" name="Text 27"/>
          <p:cNvSpPr/>
          <p:nvPr/>
        </p:nvSpPr>
        <p:spPr>
          <a:xfrm>
            <a:off x="8503920" y="2578608"/>
            <a:ext cx="2651760" cy="1865376"/>
          </a:xfrm>
          <a:prstGeom prst="rect">
            <a:avLst/>
          </a:prstGeom>
          <a:noFill/>
          <a:ln/>
        </p:spPr>
        <p:txBody>
          <a:bodyPr wrap="square" lIns="0" tIns="0" rIns="0" bIns="0" rtlCol="0" anchor="ctr"/>
          <a:lstStyle/>
          <a:p>
            <a:pPr algn="ctr" indent="0" marL="0">
              <a:buNone/>
            </a:pPr>
            <a:r>
              <a:rPr lang="en-US" sz="1700" b="1" dirty="0">
                <a:solidFill>
                  <a:srgbClr val="78350F"/>
                </a:solidFill>
                <a:latin typeface="Yu Gothic" pitchFamily="34" charset="0"/>
                <a:ea typeface="Yu Gothic" pitchFamily="34" charset="-122"/>
                <a:cs typeface="Yu Gothic" pitchFamily="34" charset="-120"/>
              </a:rPr>
              <a:t>既存案件で使えるか</a:t>
            </a:r>
            <a:endParaRPr lang="en-US" sz="1700" dirty="0"/>
          </a:p>
          <a:p>
            <a:pPr algn="ctr" indent="0" marL="0">
              <a:buNone/>
            </a:pPr>
            <a:endParaRPr lang="en-US" sz="1700" dirty="0"/>
          </a:p>
          <a:p>
            <a:pPr algn="ctr" indent="0" marL="0">
              <a:buNone/>
            </a:pPr>
            <a:r>
              <a:rPr lang="en-US" sz="1700" b="1" dirty="0">
                <a:solidFill>
                  <a:srgbClr val="78350F"/>
                </a:solidFill>
                <a:latin typeface="Yu Gothic" pitchFamily="34" charset="0"/>
                <a:ea typeface="Yu Gothic" pitchFamily="34" charset="-122"/>
                <a:cs typeface="Yu Gothic" pitchFamily="34" charset="-120"/>
              </a:rPr>
              <a:t>どの用途を優先するか</a:t>
            </a:r>
            <a:endParaRPr lang="en-US" sz="1700" dirty="0"/>
          </a:p>
          <a:p>
            <a:pPr algn="ctr" indent="0" marL="0">
              <a:buNone/>
            </a:pPr>
            <a:endParaRPr lang="en-US" sz="1700" dirty="0"/>
          </a:p>
          <a:p>
            <a:pPr algn="ctr" indent="0" marL="0">
              <a:buNone/>
            </a:pPr>
            <a:r>
              <a:rPr lang="en-US" sz="1700" b="1" dirty="0">
                <a:solidFill>
                  <a:srgbClr val="78350F"/>
                </a:solidFill>
                <a:latin typeface="Yu Gothic" pitchFamily="34" charset="0"/>
                <a:ea typeface="Yu Gothic" pitchFamily="34" charset="-122"/>
                <a:cs typeface="Yu Gothic" pitchFamily="34" charset="-120"/>
              </a:rPr>
              <a:t>継続・変更・終了</a:t>
            </a:r>
            <a:endParaRPr lang="en-US" sz="1700" dirty="0"/>
          </a:p>
        </p:txBody>
      </p:sp>
      <p:sp>
        <p:nvSpPr>
          <p:cNvPr id="30" name="Text 28"/>
          <p:cNvSpPr/>
          <p:nvPr/>
        </p:nvSpPr>
        <p:spPr>
          <a:xfrm>
            <a:off x="960120" y="5321808"/>
            <a:ext cx="10241280" cy="530352"/>
          </a:xfrm>
          <a:prstGeom prst="rect">
            <a:avLst/>
          </a:prstGeom>
          <a:solidFill>
            <a:srgbClr val="F1F5F9"/>
          </a:solidFill>
          <a:ln/>
        </p:spPr>
        <p:txBody>
          <a:bodyPr wrap="square" lIns="1016" tIns="1016" rIns="1016" bIns="1016" rtlCol="0" anchor="ctr"/>
          <a:lstStyle/>
          <a:p>
            <a:pPr algn="ctr" indent="0" marL="0">
              <a:buNone/>
            </a:pPr>
            <a:r>
              <a:rPr lang="en-US" sz="1600" b="1" dirty="0">
                <a:solidFill>
                  <a:srgbClr val="334155"/>
                </a:solidFill>
                <a:latin typeface="Yu Gothic" pitchFamily="34" charset="0"/>
                <a:ea typeface="Yu Gothic" pitchFamily="34" charset="-122"/>
                <a:cs typeface="Yu Gothic" pitchFamily="34" charset="-120"/>
              </a:rPr>
              <a:t>会社側に細かな仕様決定を求める前に、こちらで小さく動かして相談材料を作る</a:t>
            </a:r>
            <a:endParaRPr lang="en-US" sz="1600" dirty="0"/>
          </a:p>
        </p:txBody>
      </p:sp>
      <p:sp>
        <p:nvSpPr>
          <p:cNvPr id="31" name="Text 29"/>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ビューを出すだけでは、確認資料として使える状態にならない</a:t>
            </a:r>
            <a:endParaRPr lang="en-US" sz="1600" dirty="0"/>
          </a:p>
        </p:txBody>
      </p:sp>
      <p:sp>
        <p:nvSpPr>
          <p:cNvPr id="5" name="Shape 3"/>
          <p:cNvSpPr/>
          <p:nvPr/>
        </p:nvSpPr>
        <p:spPr>
          <a:xfrm>
            <a:off x="411480" y="1965960"/>
            <a:ext cx="1874520" cy="2011680"/>
          </a:xfrm>
          <a:prstGeom prst="roundRect">
            <a:avLst>
              <a:gd name="adj" fmla="val 2927"/>
            </a:avLst>
          </a:prstGeom>
          <a:solidFill>
            <a:srgbClr val="E0F2FE"/>
          </a:solidFill>
          <a:ln w="16510">
            <a:solidFill>
              <a:srgbClr val="38BDF8"/>
            </a:solidFill>
            <a:prstDash val="solid"/>
          </a:ln>
        </p:spPr>
      </p:sp>
      <p:sp>
        <p:nvSpPr>
          <p:cNvPr id="6" name="Text 4"/>
          <p:cNvSpPr/>
          <p:nvPr/>
        </p:nvSpPr>
        <p:spPr>
          <a:xfrm>
            <a:off x="731520" y="2313432"/>
            <a:ext cx="1234440" cy="475488"/>
          </a:xfrm>
          <a:prstGeom prst="rect">
            <a:avLst/>
          </a:prstGeom>
          <a:noFill/>
          <a:ln/>
        </p:spPr>
        <p:txBody>
          <a:bodyPr wrap="square" lIns="0" tIns="0" rIns="0" bIns="0" rtlCol="0" anchor="ctr"/>
          <a:lstStyle/>
          <a:p>
            <a:pPr algn="ctr" indent="0" marL="0">
              <a:buNone/>
            </a:pPr>
            <a:r>
              <a:rPr lang="en-US" sz="1600" b="1" dirty="0">
                <a:solidFill>
                  <a:srgbClr val="0369A1"/>
                </a:solidFill>
                <a:latin typeface="Yu Gothic" pitchFamily="34" charset="0"/>
                <a:ea typeface="Yu Gothic" pitchFamily="34" charset="-122"/>
                <a:cs typeface="Yu Gothic" pitchFamily="34" charset="-120"/>
              </a:rPr>
              <a:t>3D → 2D</a:t>
            </a:r>
            <a:endParaRPr lang="en-US" sz="1600" dirty="0"/>
          </a:p>
        </p:txBody>
      </p:sp>
      <p:sp>
        <p:nvSpPr>
          <p:cNvPr id="7" name="Text 5"/>
          <p:cNvSpPr/>
          <p:nvPr/>
        </p:nvSpPr>
        <p:spPr>
          <a:xfrm>
            <a:off x="557784" y="2971800"/>
            <a:ext cx="1581912" cy="292608"/>
          </a:xfrm>
          <a:prstGeom prst="rect">
            <a:avLst/>
          </a:prstGeom>
          <a:noFill/>
          <a:ln/>
        </p:spPr>
        <p:txBody>
          <a:bodyPr wrap="square" lIns="0" tIns="0" rIns="0" bIns="0" rtlCol="0" anchor="ctr"/>
          <a:lstStyle/>
          <a:p>
            <a:pPr algn="ctr" indent="0" marL="0">
              <a:buNone/>
            </a:pPr>
            <a:r>
              <a:rPr lang="en-US" sz="1600" b="1" dirty="0">
                <a:solidFill>
                  <a:srgbClr val="0F172A"/>
                </a:solidFill>
                <a:latin typeface="Yu Gothic" pitchFamily="34" charset="0"/>
                <a:ea typeface="Yu Gothic" pitchFamily="34" charset="-122"/>
                <a:cs typeface="Yu Gothic" pitchFamily="34" charset="-120"/>
              </a:rPr>
              <a:t>ビュー生成</a:t>
            </a:r>
            <a:endParaRPr lang="en-US" sz="1600" dirty="0"/>
          </a:p>
        </p:txBody>
      </p:sp>
      <p:sp>
        <p:nvSpPr>
          <p:cNvPr id="8" name="Text 6"/>
          <p:cNvSpPr/>
          <p:nvPr/>
        </p:nvSpPr>
        <p:spPr>
          <a:xfrm>
            <a:off x="539496" y="3401568"/>
            <a:ext cx="1618488" cy="256032"/>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Yu Gothic" pitchFamily="34" charset="0"/>
                <a:ea typeface="Yu Gothic" pitchFamily="34" charset="-122"/>
                <a:cs typeface="Yu Gothic" pitchFamily="34" charset="-120"/>
              </a:rPr>
              <a:t>正面・側面・上面</a:t>
            </a:r>
            <a:endParaRPr lang="en-US" sz="1000" dirty="0"/>
          </a:p>
        </p:txBody>
      </p:sp>
      <p:sp>
        <p:nvSpPr>
          <p:cNvPr id="9" name="Shape 7"/>
          <p:cNvSpPr/>
          <p:nvPr/>
        </p:nvSpPr>
        <p:spPr>
          <a:xfrm>
            <a:off x="2313432" y="2724912"/>
            <a:ext cx="384048" cy="530352"/>
          </a:xfrm>
          <a:prstGeom prst="chevron">
            <a:avLst/>
          </a:prstGeom>
          <a:solidFill>
            <a:srgbClr val="99F6E4"/>
          </a:solidFill>
          <a:ln w="12700">
            <a:solidFill>
              <a:srgbClr val="5EEAD4"/>
            </a:solidFill>
            <a:prstDash val="solid"/>
          </a:ln>
        </p:spPr>
      </p:sp>
      <p:sp>
        <p:nvSpPr>
          <p:cNvPr id="10" name="Shape 8"/>
          <p:cNvSpPr/>
          <p:nvPr/>
        </p:nvSpPr>
        <p:spPr>
          <a:xfrm>
            <a:off x="2770632" y="1965960"/>
            <a:ext cx="1874520" cy="2011680"/>
          </a:xfrm>
          <a:prstGeom prst="roundRect">
            <a:avLst>
              <a:gd name="adj" fmla="val 2927"/>
            </a:avLst>
          </a:prstGeom>
          <a:solidFill>
            <a:srgbClr val="FEE2E2"/>
          </a:solidFill>
          <a:ln w="16510">
            <a:solidFill>
              <a:srgbClr val="F87171"/>
            </a:solidFill>
            <a:prstDash val="solid"/>
          </a:ln>
        </p:spPr>
      </p:sp>
      <p:sp>
        <p:nvSpPr>
          <p:cNvPr id="11" name="Text 9"/>
          <p:cNvSpPr/>
          <p:nvPr/>
        </p:nvSpPr>
        <p:spPr>
          <a:xfrm>
            <a:off x="3090672" y="2313432"/>
            <a:ext cx="1234440" cy="475488"/>
          </a:xfrm>
          <a:prstGeom prst="rect">
            <a:avLst/>
          </a:prstGeom>
          <a:noFill/>
          <a:ln/>
        </p:spPr>
        <p:txBody>
          <a:bodyPr wrap="square" lIns="0" tIns="0" rIns="0" bIns="0" rtlCol="0" anchor="ctr"/>
          <a:lstStyle/>
          <a:p>
            <a:pPr algn="ctr" indent="0" marL="0">
              <a:buNone/>
            </a:pPr>
            <a:r>
              <a:rPr lang="en-US" sz="1600" b="1" dirty="0">
                <a:solidFill>
                  <a:srgbClr val="B91C1C"/>
                </a:solidFill>
                <a:latin typeface="Yu Gothic" pitchFamily="34" charset="0"/>
                <a:ea typeface="Yu Gothic" pitchFamily="34" charset="-122"/>
                <a:cs typeface="Yu Gothic" pitchFamily="34" charset="-120"/>
              </a:rPr>
              <a:t>手作業</a:t>
            </a:r>
            <a:endParaRPr lang="en-US" sz="1600" dirty="0"/>
          </a:p>
        </p:txBody>
      </p:sp>
      <p:sp>
        <p:nvSpPr>
          <p:cNvPr id="12" name="Text 10"/>
          <p:cNvSpPr/>
          <p:nvPr/>
        </p:nvSpPr>
        <p:spPr>
          <a:xfrm>
            <a:off x="2916936" y="2971800"/>
            <a:ext cx="1581912" cy="292608"/>
          </a:xfrm>
          <a:prstGeom prst="rect">
            <a:avLst/>
          </a:prstGeom>
          <a:noFill/>
          <a:ln/>
        </p:spPr>
        <p:txBody>
          <a:bodyPr wrap="square" lIns="0" tIns="0" rIns="0" bIns="0" rtlCol="0" anchor="ctr"/>
          <a:lstStyle/>
          <a:p>
            <a:pPr algn="ctr" indent="0" marL="0">
              <a:buNone/>
            </a:pPr>
            <a:r>
              <a:rPr lang="en-US" sz="1600" b="1" dirty="0">
                <a:solidFill>
                  <a:srgbClr val="0F172A"/>
                </a:solidFill>
                <a:latin typeface="Yu Gothic" pitchFamily="34" charset="0"/>
                <a:ea typeface="Yu Gothic" pitchFamily="34" charset="-122"/>
                <a:cs typeface="Yu Gothic" pitchFamily="34" charset="-120"/>
              </a:rPr>
              <a:t>余白処理</a:t>
            </a:r>
            <a:endParaRPr lang="en-US" sz="1600" dirty="0"/>
          </a:p>
        </p:txBody>
      </p:sp>
      <p:sp>
        <p:nvSpPr>
          <p:cNvPr id="13" name="Text 11"/>
          <p:cNvSpPr/>
          <p:nvPr/>
        </p:nvSpPr>
        <p:spPr>
          <a:xfrm>
            <a:off x="2898648" y="3401568"/>
            <a:ext cx="1618488" cy="256032"/>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Yu Gothic" pitchFamily="34" charset="0"/>
                <a:ea typeface="Yu Gothic" pitchFamily="34" charset="-122"/>
                <a:cs typeface="Yu Gothic" pitchFamily="34" charset="-120"/>
              </a:rPr>
              <a:t>外形検出・トリミング</a:t>
            </a:r>
            <a:endParaRPr lang="en-US" sz="1000" dirty="0"/>
          </a:p>
        </p:txBody>
      </p:sp>
      <p:sp>
        <p:nvSpPr>
          <p:cNvPr id="14" name="Shape 12"/>
          <p:cNvSpPr/>
          <p:nvPr/>
        </p:nvSpPr>
        <p:spPr>
          <a:xfrm>
            <a:off x="4672584" y="2724912"/>
            <a:ext cx="384048" cy="530352"/>
          </a:xfrm>
          <a:prstGeom prst="chevron">
            <a:avLst/>
          </a:prstGeom>
          <a:solidFill>
            <a:srgbClr val="99F6E4"/>
          </a:solidFill>
          <a:ln w="12700">
            <a:solidFill>
              <a:srgbClr val="5EEAD4"/>
            </a:solidFill>
            <a:prstDash val="solid"/>
          </a:ln>
        </p:spPr>
      </p:sp>
      <p:sp>
        <p:nvSpPr>
          <p:cNvPr id="15" name="Shape 13"/>
          <p:cNvSpPr/>
          <p:nvPr/>
        </p:nvSpPr>
        <p:spPr>
          <a:xfrm>
            <a:off x="5129784" y="1965960"/>
            <a:ext cx="1874520" cy="2011680"/>
          </a:xfrm>
          <a:prstGeom prst="roundRect">
            <a:avLst>
              <a:gd name="adj" fmla="val 2927"/>
            </a:avLst>
          </a:prstGeom>
          <a:solidFill>
            <a:srgbClr val="FEE2E2"/>
          </a:solidFill>
          <a:ln w="16510">
            <a:solidFill>
              <a:srgbClr val="F87171"/>
            </a:solidFill>
            <a:prstDash val="solid"/>
          </a:ln>
        </p:spPr>
      </p:sp>
      <p:sp>
        <p:nvSpPr>
          <p:cNvPr id="16" name="Text 14"/>
          <p:cNvSpPr/>
          <p:nvPr/>
        </p:nvSpPr>
        <p:spPr>
          <a:xfrm>
            <a:off x="5449824" y="2313432"/>
            <a:ext cx="1234440" cy="475488"/>
          </a:xfrm>
          <a:prstGeom prst="rect">
            <a:avLst/>
          </a:prstGeom>
          <a:noFill/>
          <a:ln/>
        </p:spPr>
        <p:txBody>
          <a:bodyPr wrap="square" lIns="0" tIns="0" rIns="0" bIns="0" rtlCol="0" anchor="ctr"/>
          <a:lstStyle/>
          <a:p>
            <a:pPr algn="ctr" indent="0" marL="0">
              <a:buNone/>
            </a:pPr>
            <a:r>
              <a:rPr lang="en-US" sz="1600" b="1" dirty="0">
                <a:solidFill>
                  <a:srgbClr val="B91C1C"/>
                </a:solidFill>
                <a:latin typeface="Yu Gothic" pitchFamily="34" charset="0"/>
                <a:ea typeface="Yu Gothic" pitchFamily="34" charset="-122"/>
                <a:cs typeface="Yu Gothic" pitchFamily="34" charset="-120"/>
              </a:rPr>
              <a:t>手作業</a:t>
            </a:r>
            <a:endParaRPr lang="en-US" sz="1600" dirty="0"/>
          </a:p>
        </p:txBody>
      </p:sp>
      <p:sp>
        <p:nvSpPr>
          <p:cNvPr id="17" name="Text 15"/>
          <p:cNvSpPr/>
          <p:nvPr/>
        </p:nvSpPr>
        <p:spPr>
          <a:xfrm>
            <a:off x="5276088" y="2971800"/>
            <a:ext cx="1581912" cy="292608"/>
          </a:xfrm>
          <a:prstGeom prst="rect">
            <a:avLst/>
          </a:prstGeom>
          <a:noFill/>
          <a:ln/>
        </p:spPr>
        <p:txBody>
          <a:bodyPr wrap="square" lIns="0" tIns="0" rIns="0" bIns="0" rtlCol="0" anchor="ctr"/>
          <a:lstStyle/>
          <a:p>
            <a:pPr algn="ctr" indent="0" marL="0">
              <a:buNone/>
            </a:pPr>
            <a:r>
              <a:rPr lang="en-US" sz="1600" b="1" dirty="0">
                <a:solidFill>
                  <a:srgbClr val="0F172A"/>
                </a:solidFill>
                <a:latin typeface="Yu Gothic" pitchFamily="34" charset="0"/>
                <a:ea typeface="Yu Gothic" pitchFamily="34" charset="-122"/>
                <a:cs typeface="Yu Gothic" pitchFamily="34" charset="-120"/>
              </a:rPr>
              <a:t>縮尺調整</a:t>
            </a:r>
            <a:endParaRPr lang="en-US" sz="1600" dirty="0"/>
          </a:p>
        </p:txBody>
      </p:sp>
      <p:sp>
        <p:nvSpPr>
          <p:cNvPr id="18" name="Text 16"/>
          <p:cNvSpPr/>
          <p:nvPr/>
        </p:nvSpPr>
        <p:spPr>
          <a:xfrm>
            <a:off x="5257800" y="3401568"/>
            <a:ext cx="1618488" cy="256032"/>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Yu Gothic" pitchFamily="34" charset="0"/>
                <a:ea typeface="Yu Gothic" pitchFamily="34" charset="-122"/>
                <a:cs typeface="Yu Gothic" pitchFamily="34" charset="-120"/>
              </a:rPr>
              <a:t>用紙内へ収める</a:t>
            </a:r>
            <a:endParaRPr lang="en-US" sz="1000" dirty="0"/>
          </a:p>
        </p:txBody>
      </p:sp>
      <p:sp>
        <p:nvSpPr>
          <p:cNvPr id="19" name="Shape 17"/>
          <p:cNvSpPr/>
          <p:nvPr/>
        </p:nvSpPr>
        <p:spPr>
          <a:xfrm>
            <a:off x="7031736" y="2724912"/>
            <a:ext cx="384048" cy="530352"/>
          </a:xfrm>
          <a:prstGeom prst="chevron">
            <a:avLst/>
          </a:prstGeom>
          <a:solidFill>
            <a:srgbClr val="99F6E4"/>
          </a:solidFill>
          <a:ln w="12700">
            <a:solidFill>
              <a:srgbClr val="5EEAD4"/>
            </a:solidFill>
            <a:prstDash val="solid"/>
          </a:ln>
        </p:spPr>
      </p:sp>
      <p:sp>
        <p:nvSpPr>
          <p:cNvPr id="20" name="Shape 18"/>
          <p:cNvSpPr/>
          <p:nvPr/>
        </p:nvSpPr>
        <p:spPr>
          <a:xfrm>
            <a:off x="7488936" y="1965960"/>
            <a:ext cx="1874520" cy="2011680"/>
          </a:xfrm>
          <a:prstGeom prst="roundRect">
            <a:avLst>
              <a:gd name="adj" fmla="val 2927"/>
            </a:avLst>
          </a:prstGeom>
          <a:solidFill>
            <a:srgbClr val="FEE2E2"/>
          </a:solidFill>
          <a:ln w="16510">
            <a:solidFill>
              <a:srgbClr val="F87171"/>
            </a:solidFill>
            <a:prstDash val="solid"/>
          </a:ln>
        </p:spPr>
      </p:sp>
      <p:sp>
        <p:nvSpPr>
          <p:cNvPr id="21" name="Text 19"/>
          <p:cNvSpPr/>
          <p:nvPr/>
        </p:nvSpPr>
        <p:spPr>
          <a:xfrm>
            <a:off x="7808976" y="2313432"/>
            <a:ext cx="1234440" cy="475488"/>
          </a:xfrm>
          <a:prstGeom prst="rect">
            <a:avLst/>
          </a:prstGeom>
          <a:noFill/>
          <a:ln/>
        </p:spPr>
        <p:txBody>
          <a:bodyPr wrap="square" lIns="0" tIns="0" rIns="0" bIns="0" rtlCol="0" anchor="ctr"/>
          <a:lstStyle/>
          <a:p>
            <a:pPr algn="ctr" indent="0" marL="0">
              <a:buNone/>
            </a:pPr>
            <a:r>
              <a:rPr lang="en-US" sz="1600" b="1" dirty="0">
                <a:solidFill>
                  <a:srgbClr val="B91C1C"/>
                </a:solidFill>
                <a:latin typeface="Yu Gothic" pitchFamily="34" charset="0"/>
                <a:ea typeface="Yu Gothic" pitchFamily="34" charset="-122"/>
                <a:cs typeface="Yu Gothic" pitchFamily="34" charset="-120"/>
              </a:rPr>
              <a:t>手作業</a:t>
            </a:r>
            <a:endParaRPr lang="en-US" sz="1600" dirty="0"/>
          </a:p>
        </p:txBody>
      </p:sp>
      <p:sp>
        <p:nvSpPr>
          <p:cNvPr id="22" name="Text 20"/>
          <p:cNvSpPr/>
          <p:nvPr/>
        </p:nvSpPr>
        <p:spPr>
          <a:xfrm>
            <a:off x="7635240" y="2971800"/>
            <a:ext cx="1581912" cy="292608"/>
          </a:xfrm>
          <a:prstGeom prst="rect">
            <a:avLst/>
          </a:prstGeom>
          <a:noFill/>
          <a:ln/>
        </p:spPr>
        <p:txBody>
          <a:bodyPr wrap="square" lIns="0" tIns="0" rIns="0" bIns="0" rtlCol="0" anchor="ctr"/>
          <a:lstStyle/>
          <a:p>
            <a:pPr algn="ctr" indent="0" marL="0">
              <a:buNone/>
            </a:pPr>
            <a:r>
              <a:rPr lang="en-US" sz="1600" b="1" dirty="0">
                <a:solidFill>
                  <a:srgbClr val="0F172A"/>
                </a:solidFill>
                <a:latin typeface="Yu Gothic" pitchFamily="34" charset="0"/>
                <a:ea typeface="Yu Gothic" pitchFamily="34" charset="-122"/>
                <a:cs typeface="Yu Gothic" pitchFamily="34" charset="-120"/>
              </a:rPr>
              <a:t>配置</a:t>
            </a:r>
            <a:endParaRPr lang="en-US" sz="1600" dirty="0"/>
          </a:p>
        </p:txBody>
      </p:sp>
      <p:sp>
        <p:nvSpPr>
          <p:cNvPr id="23" name="Text 21"/>
          <p:cNvSpPr/>
          <p:nvPr/>
        </p:nvSpPr>
        <p:spPr>
          <a:xfrm>
            <a:off x="7616952" y="3401568"/>
            <a:ext cx="1618488" cy="256032"/>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Yu Gothic" pitchFamily="34" charset="0"/>
                <a:ea typeface="Yu Gothic" pitchFamily="34" charset="-122"/>
                <a:cs typeface="Yu Gothic" pitchFamily="34" charset="-120"/>
              </a:rPr>
              <a:t>表題欄・押印欄を避ける</a:t>
            </a:r>
            <a:endParaRPr lang="en-US" sz="1000" dirty="0"/>
          </a:p>
        </p:txBody>
      </p:sp>
      <p:sp>
        <p:nvSpPr>
          <p:cNvPr id="24" name="Shape 22"/>
          <p:cNvSpPr/>
          <p:nvPr/>
        </p:nvSpPr>
        <p:spPr>
          <a:xfrm>
            <a:off x="9390888" y="2724912"/>
            <a:ext cx="384048" cy="530352"/>
          </a:xfrm>
          <a:prstGeom prst="chevron">
            <a:avLst/>
          </a:prstGeom>
          <a:solidFill>
            <a:srgbClr val="99F6E4"/>
          </a:solidFill>
          <a:ln w="12700">
            <a:solidFill>
              <a:srgbClr val="5EEAD4"/>
            </a:solidFill>
            <a:prstDash val="solid"/>
          </a:ln>
        </p:spPr>
      </p:sp>
      <p:sp>
        <p:nvSpPr>
          <p:cNvPr id="25" name="Shape 23"/>
          <p:cNvSpPr/>
          <p:nvPr/>
        </p:nvSpPr>
        <p:spPr>
          <a:xfrm>
            <a:off x="9848088" y="1965960"/>
            <a:ext cx="1874520" cy="2011680"/>
          </a:xfrm>
          <a:prstGeom prst="roundRect">
            <a:avLst>
              <a:gd name="adj" fmla="val 2927"/>
            </a:avLst>
          </a:prstGeom>
          <a:solidFill>
            <a:srgbClr val="DCFCE7"/>
          </a:solidFill>
          <a:ln w="16510">
            <a:solidFill>
              <a:srgbClr val="4ADE80"/>
            </a:solidFill>
            <a:prstDash val="solid"/>
          </a:ln>
        </p:spPr>
      </p:sp>
      <p:sp>
        <p:nvSpPr>
          <p:cNvPr id="26" name="Text 24"/>
          <p:cNvSpPr/>
          <p:nvPr/>
        </p:nvSpPr>
        <p:spPr>
          <a:xfrm>
            <a:off x="10168128" y="2313432"/>
            <a:ext cx="1234440" cy="475488"/>
          </a:xfrm>
          <a:prstGeom prst="rect">
            <a:avLst/>
          </a:prstGeom>
          <a:noFill/>
          <a:ln/>
        </p:spPr>
        <p:txBody>
          <a:bodyPr wrap="square" lIns="0" tIns="0" rIns="0" bIns="0" rtlCol="0" anchor="ctr"/>
          <a:lstStyle/>
          <a:p>
            <a:pPr algn="ctr" indent="0" marL="0">
              <a:buNone/>
            </a:pPr>
            <a:r>
              <a:rPr lang="en-US" sz="2600" b="1" dirty="0">
                <a:solidFill>
                  <a:srgbClr val="15803D"/>
                </a:solidFill>
                <a:latin typeface="Yu Gothic" pitchFamily="34" charset="0"/>
                <a:ea typeface="Yu Gothic" pitchFamily="34" charset="-122"/>
                <a:cs typeface="Yu Gothic" pitchFamily="34" charset="-120"/>
              </a:rPr>
              <a:t>✓</a:t>
            </a:r>
            <a:endParaRPr lang="en-US" sz="2600" dirty="0"/>
          </a:p>
        </p:txBody>
      </p:sp>
      <p:sp>
        <p:nvSpPr>
          <p:cNvPr id="27" name="Text 25"/>
          <p:cNvSpPr/>
          <p:nvPr/>
        </p:nvSpPr>
        <p:spPr>
          <a:xfrm>
            <a:off x="9994392" y="2971800"/>
            <a:ext cx="1581912" cy="292608"/>
          </a:xfrm>
          <a:prstGeom prst="rect">
            <a:avLst/>
          </a:prstGeom>
          <a:noFill/>
          <a:ln/>
        </p:spPr>
        <p:txBody>
          <a:bodyPr wrap="square" lIns="0" tIns="0" rIns="0" bIns="0" rtlCol="0" anchor="ctr"/>
          <a:lstStyle/>
          <a:p>
            <a:pPr algn="ctr" indent="0" marL="0">
              <a:buNone/>
            </a:pPr>
            <a:r>
              <a:rPr lang="en-US" sz="1600" b="1" dirty="0">
                <a:solidFill>
                  <a:srgbClr val="0F172A"/>
                </a:solidFill>
                <a:latin typeface="Yu Gothic" pitchFamily="34" charset="0"/>
                <a:ea typeface="Yu Gothic" pitchFamily="34" charset="-122"/>
                <a:cs typeface="Yu Gothic" pitchFamily="34" charset="-120"/>
              </a:rPr>
              <a:t>確認資料</a:t>
            </a:r>
            <a:endParaRPr lang="en-US" sz="1600" dirty="0"/>
          </a:p>
        </p:txBody>
      </p:sp>
      <p:sp>
        <p:nvSpPr>
          <p:cNvPr id="28" name="Text 26"/>
          <p:cNvSpPr/>
          <p:nvPr/>
        </p:nvSpPr>
        <p:spPr>
          <a:xfrm>
            <a:off x="9976104" y="3401568"/>
            <a:ext cx="1618488" cy="256032"/>
          </a:xfrm>
          <a:prstGeom prst="rect">
            <a:avLst/>
          </a:prstGeom>
          <a:noFill/>
          <a:ln/>
        </p:spPr>
        <p:txBody>
          <a:bodyPr wrap="square" lIns="0" tIns="0" rIns="0" bIns="0" rtlCol="0" anchor="ctr">
            <a:normAutofit/>
          </a:bodyPr>
          <a:lstStyle/>
          <a:p>
            <a:pPr algn="ctr" indent="0" marL="0">
              <a:buNone/>
            </a:pPr>
            <a:r>
              <a:rPr lang="en-US" sz="1000" dirty="0">
                <a:solidFill>
                  <a:srgbClr val="64748B"/>
                </a:solidFill>
                <a:latin typeface="Yu Gothic" pitchFamily="34" charset="0"/>
                <a:ea typeface="Yu Gothic" pitchFamily="34" charset="-122"/>
                <a:cs typeface="Yu Gothic" pitchFamily="34" charset="-120"/>
              </a:rPr>
              <a:t>画像・PDF</a:t>
            </a:r>
            <a:endParaRPr lang="en-US" sz="1000" dirty="0"/>
          </a:p>
        </p:txBody>
      </p:sp>
      <p:sp>
        <p:nvSpPr>
          <p:cNvPr id="29" name="Shape 27"/>
          <p:cNvSpPr/>
          <p:nvPr/>
        </p:nvSpPr>
        <p:spPr>
          <a:xfrm>
            <a:off x="2487168" y="4407408"/>
            <a:ext cx="7178040" cy="960120"/>
          </a:xfrm>
          <a:prstGeom prst="roundRect">
            <a:avLst>
              <a:gd name="adj" fmla="val 4762"/>
            </a:avLst>
          </a:prstGeom>
          <a:solidFill>
            <a:srgbClr val="FFF7ED"/>
          </a:solidFill>
          <a:ln w="12700">
            <a:solidFill>
              <a:srgbClr val="FDBA74"/>
            </a:solidFill>
            <a:prstDash val="solid"/>
          </a:ln>
        </p:spPr>
      </p:sp>
      <p:sp>
        <p:nvSpPr>
          <p:cNvPr id="30" name="Text 28"/>
          <p:cNvSpPr/>
          <p:nvPr/>
        </p:nvSpPr>
        <p:spPr>
          <a:xfrm>
            <a:off x="2788920" y="4617720"/>
            <a:ext cx="1508760" cy="256032"/>
          </a:xfrm>
          <a:prstGeom prst="rect">
            <a:avLst/>
          </a:prstGeom>
          <a:noFill/>
          <a:ln/>
        </p:spPr>
        <p:txBody>
          <a:bodyPr wrap="square" lIns="0" tIns="0" rIns="0" bIns="0" rtlCol="0" anchor="ctr"/>
          <a:lstStyle/>
          <a:p>
            <a:pPr algn="ctr" indent="0" marL="0">
              <a:buNone/>
            </a:pPr>
            <a:r>
              <a:rPr lang="en-US" sz="1300" b="1" dirty="0">
                <a:solidFill>
                  <a:srgbClr val="C2410C"/>
                </a:solidFill>
                <a:latin typeface="Yu Gothic" pitchFamily="34" charset="0"/>
                <a:ea typeface="Yu Gothic" pitchFamily="34" charset="-122"/>
                <a:cs typeface="Yu Gothic" pitchFamily="34" charset="-120"/>
              </a:rPr>
              <a:t>今回の検証対象</a:t>
            </a:r>
            <a:endParaRPr lang="en-US" sz="1300" dirty="0"/>
          </a:p>
        </p:txBody>
      </p:sp>
      <p:sp>
        <p:nvSpPr>
          <p:cNvPr id="31" name="Text 29"/>
          <p:cNvSpPr/>
          <p:nvPr/>
        </p:nvSpPr>
        <p:spPr>
          <a:xfrm>
            <a:off x="4279392" y="4581144"/>
            <a:ext cx="5029200" cy="347472"/>
          </a:xfrm>
          <a:prstGeom prst="rect">
            <a:avLst/>
          </a:prstGeom>
          <a:noFill/>
          <a:ln/>
        </p:spPr>
        <p:txBody>
          <a:bodyPr wrap="square" lIns="0" tIns="0" rIns="0" bIns="0" rtlCol="0" anchor="ctr">
            <a:normAutofit/>
          </a:bodyPr>
          <a:lstStyle/>
          <a:p>
            <a:pPr algn="ctr" indent="0" marL="0">
              <a:buNone/>
            </a:pPr>
            <a:r>
              <a:rPr lang="en-US" sz="1600" b="1" dirty="0">
                <a:solidFill>
                  <a:srgbClr val="7C2D12"/>
                </a:solidFill>
                <a:latin typeface="Yu Gothic" pitchFamily="34" charset="0"/>
                <a:ea typeface="Yu Gothic" pitchFamily="34" charset="-122"/>
                <a:cs typeface="Yu Gothic" pitchFamily="34" charset="-120"/>
              </a:rPr>
              <a:t>余白の除去、縮尺計算、避ける領域を考慮した配置を自動化できるか</a:t>
            </a:r>
            <a:endParaRPr lang="en-US" sz="1600" dirty="0"/>
          </a:p>
        </p:txBody>
      </p:sp>
      <p:sp>
        <p:nvSpPr>
          <p:cNvPr id="32" name="Text 30"/>
          <p:cNvSpPr/>
          <p:nvPr/>
        </p:nvSpPr>
        <p:spPr>
          <a:xfrm>
            <a:off x="1280160" y="5650992"/>
            <a:ext cx="9601200" cy="329184"/>
          </a:xfrm>
          <a:prstGeom prst="rect">
            <a:avLst/>
          </a:prstGeom>
          <a:noFill/>
          <a:ln/>
        </p:spPr>
        <p:txBody>
          <a:bodyPr wrap="square" lIns="0" tIns="0" rIns="0" bIns="0" rtlCol="0" anchor="ctr"/>
          <a:lstStyle/>
          <a:p>
            <a:pPr algn="ctr" indent="0" marL="0">
              <a:buNone/>
            </a:pPr>
            <a:r>
              <a:rPr lang="en-US" sz="1400" b="1" dirty="0">
                <a:solidFill>
                  <a:srgbClr val="475569"/>
                </a:solidFill>
                <a:latin typeface="Yu Gothic" pitchFamily="34" charset="0"/>
                <a:ea typeface="Yu Gothic" pitchFamily="34" charset="-122"/>
                <a:cs typeface="Yu Gothic" pitchFamily="34" charset="-120"/>
              </a:rPr>
              <a:t>過去の検討では、ビュー出力後の用紙配置を十分に制御できなかった</a:t>
            </a:r>
            <a:endParaRPr lang="en-US" sz="1400" dirty="0"/>
          </a:p>
        </p:txBody>
      </p:sp>
      <p:sp>
        <p:nvSpPr>
          <p:cNvPr id="33" name="Text 31"/>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図枠テンプレートの例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表題欄の位置や用紙形式によって、ビューを置ける領域が変わる</a:t>
            </a:r>
            <a:endParaRPr lang="en-US" sz="1600" dirty="0"/>
          </a:p>
        </p:txBody>
      </p:sp>
      <p:sp>
        <p:nvSpPr>
          <p:cNvPr id="5" name="Shape 3"/>
          <p:cNvSpPr/>
          <p:nvPr/>
        </p:nvSpPr>
        <p:spPr>
          <a:xfrm>
            <a:off x="658368" y="1645920"/>
            <a:ext cx="3401568" cy="3429000"/>
          </a:xfrm>
          <a:prstGeom prst="roundRect">
            <a:avLst>
              <a:gd name="adj" fmla="val 1344"/>
            </a:avLst>
          </a:prstGeom>
          <a:solidFill>
            <a:srgbClr val="F8FAFC"/>
          </a:solidFill>
          <a:ln w="12700">
            <a:solidFill>
              <a:srgbClr val="CBD5E1"/>
            </a:solidFill>
            <a:prstDash val="solid"/>
          </a:ln>
        </p:spPr>
      </p:sp>
      <p:pic>
        <p:nvPicPr>
          <p:cNvPr id="6" name="Image 0" descr="/mnt/c/Users/y_s_d/Desktop/develop/work/mytool/MyReport/assets/company-proposal/image1.gif">    </p:cNvPr>
          <p:cNvPicPr>
            <a:picLocks noChangeAspect="1"/>
          </p:cNvPicPr>
          <p:nvPr/>
        </p:nvPicPr>
        <p:blipFill>
          <a:blip r:embed="rId1"/>
          <a:stretch>
            <a:fillRect/>
          </a:stretch>
        </p:blipFill>
        <p:spPr>
          <a:xfrm>
            <a:off x="859536" y="1965960"/>
            <a:ext cx="2999232" cy="2121408"/>
          </a:xfrm>
          <a:prstGeom prst="rect">
            <a:avLst/>
          </a:prstGeom>
        </p:spPr>
      </p:pic>
      <p:sp>
        <p:nvSpPr>
          <p:cNvPr id="7" name="Text 4"/>
          <p:cNvSpPr/>
          <p:nvPr/>
        </p:nvSpPr>
        <p:spPr>
          <a:xfrm>
            <a:off x="795528" y="4315968"/>
            <a:ext cx="3127248" cy="347472"/>
          </a:xfrm>
          <a:prstGeom prst="rect">
            <a:avLst/>
          </a:prstGeom>
          <a:noFill/>
          <a:ln/>
        </p:spPr>
        <p:txBody>
          <a:bodyPr wrap="square" lIns="0" tIns="0" rIns="0" bIns="0" rtlCol="0" anchor="ctr"/>
          <a:lstStyle/>
          <a:p>
            <a:pPr algn="ctr" indent="0" marL="0">
              <a:buNone/>
            </a:pPr>
            <a:r>
              <a:rPr lang="en-US" sz="1300" b="1" dirty="0">
                <a:solidFill>
                  <a:srgbClr val="334155"/>
                </a:solidFill>
                <a:latin typeface="Yu Gothic" pitchFamily="34" charset="0"/>
                <a:ea typeface="Yu Gothic" pitchFamily="34" charset="-122"/>
                <a:cs typeface="Yu Gothic" pitchFamily="34" charset="-120"/>
              </a:rPr>
              <a:t>右下に表題欄がある例</a:t>
            </a:r>
            <a:endParaRPr lang="en-US" sz="1300" dirty="0"/>
          </a:p>
        </p:txBody>
      </p:sp>
      <p:sp>
        <p:nvSpPr>
          <p:cNvPr id="8" name="Shape 5"/>
          <p:cNvSpPr/>
          <p:nvPr/>
        </p:nvSpPr>
        <p:spPr>
          <a:xfrm>
            <a:off x="4453128" y="1645920"/>
            <a:ext cx="3401568" cy="3429000"/>
          </a:xfrm>
          <a:prstGeom prst="roundRect">
            <a:avLst>
              <a:gd name="adj" fmla="val 1344"/>
            </a:avLst>
          </a:prstGeom>
          <a:solidFill>
            <a:srgbClr val="F8FAFC"/>
          </a:solidFill>
          <a:ln w="12700">
            <a:solidFill>
              <a:srgbClr val="CBD5E1"/>
            </a:solidFill>
            <a:prstDash val="solid"/>
          </a:ln>
        </p:spPr>
      </p:sp>
      <p:pic>
        <p:nvPicPr>
          <p:cNvPr id="9" name="Image 1" descr="/mnt/c/Users/y_s_d/Desktop/develop/work/mytool/MyReport/assets/company-proposal/image2.gif">    </p:cNvPr>
          <p:cNvPicPr>
            <a:picLocks noChangeAspect="1"/>
          </p:cNvPicPr>
          <p:nvPr/>
        </p:nvPicPr>
        <p:blipFill>
          <a:blip r:embed="rId2"/>
          <a:stretch>
            <a:fillRect/>
          </a:stretch>
        </p:blipFill>
        <p:spPr>
          <a:xfrm>
            <a:off x="4654296" y="1965960"/>
            <a:ext cx="2999232" cy="2121408"/>
          </a:xfrm>
          <a:prstGeom prst="rect">
            <a:avLst/>
          </a:prstGeom>
        </p:spPr>
      </p:pic>
      <p:sp>
        <p:nvSpPr>
          <p:cNvPr id="10" name="Text 6"/>
          <p:cNvSpPr/>
          <p:nvPr/>
        </p:nvSpPr>
        <p:spPr>
          <a:xfrm>
            <a:off x="4590288" y="4315968"/>
            <a:ext cx="3127248" cy="347472"/>
          </a:xfrm>
          <a:prstGeom prst="rect">
            <a:avLst/>
          </a:prstGeom>
          <a:noFill/>
          <a:ln/>
        </p:spPr>
        <p:txBody>
          <a:bodyPr wrap="square" lIns="0" tIns="0" rIns="0" bIns="0" rtlCol="0" anchor="ctr"/>
          <a:lstStyle/>
          <a:p>
            <a:pPr algn="ctr" indent="0" marL="0">
              <a:buNone/>
            </a:pPr>
            <a:r>
              <a:rPr lang="en-US" sz="1300" b="1" dirty="0">
                <a:solidFill>
                  <a:srgbClr val="334155"/>
                </a:solidFill>
                <a:latin typeface="Yu Gothic" pitchFamily="34" charset="0"/>
                <a:ea typeface="Yu Gothic" pitchFamily="34" charset="-122"/>
                <a:cs typeface="Yu Gothic" pitchFamily="34" charset="-120"/>
              </a:rPr>
              <a:t>下部に表題欄がある例</a:t>
            </a:r>
            <a:endParaRPr lang="en-US" sz="1300" dirty="0"/>
          </a:p>
        </p:txBody>
      </p:sp>
      <p:sp>
        <p:nvSpPr>
          <p:cNvPr id="11" name="Shape 7"/>
          <p:cNvSpPr/>
          <p:nvPr/>
        </p:nvSpPr>
        <p:spPr>
          <a:xfrm>
            <a:off x="8247888" y="1645920"/>
            <a:ext cx="3401568" cy="3429000"/>
          </a:xfrm>
          <a:prstGeom prst="roundRect">
            <a:avLst>
              <a:gd name="adj" fmla="val 1344"/>
            </a:avLst>
          </a:prstGeom>
          <a:solidFill>
            <a:srgbClr val="F8FAFC"/>
          </a:solidFill>
          <a:ln w="12700">
            <a:solidFill>
              <a:srgbClr val="CBD5E1"/>
            </a:solidFill>
            <a:prstDash val="solid"/>
          </a:ln>
        </p:spPr>
      </p:sp>
      <p:pic>
        <p:nvPicPr>
          <p:cNvPr id="12" name="Image 2" descr="/mnt/c/Users/y_s_d/Desktop/develop/work/mytool/MyReport/assets/company-proposal/image4.gif">    </p:cNvPr>
          <p:cNvPicPr>
            <a:picLocks noChangeAspect="1"/>
          </p:cNvPicPr>
          <p:nvPr/>
        </p:nvPicPr>
        <p:blipFill>
          <a:blip r:embed="rId3"/>
          <a:stretch>
            <a:fillRect/>
          </a:stretch>
        </p:blipFill>
        <p:spPr>
          <a:xfrm>
            <a:off x="8449056" y="1965960"/>
            <a:ext cx="2999232" cy="2121408"/>
          </a:xfrm>
          <a:prstGeom prst="rect">
            <a:avLst/>
          </a:prstGeom>
        </p:spPr>
      </p:pic>
      <p:sp>
        <p:nvSpPr>
          <p:cNvPr id="13" name="Text 8"/>
          <p:cNvSpPr/>
          <p:nvPr/>
        </p:nvSpPr>
        <p:spPr>
          <a:xfrm>
            <a:off x="8385048" y="4315968"/>
            <a:ext cx="3127248" cy="347472"/>
          </a:xfrm>
          <a:prstGeom prst="rect">
            <a:avLst/>
          </a:prstGeom>
          <a:noFill/>
          <a:ln/>
        </p:spPr>
        <p:txBody>
          <a:bodyPr wrap="square" lIns="0" tIns="0" rIns="0" bIns="0" rtlCol="0" anchor="ctr"/>
          <a:lstStyle/>
          <a:p>
            <a:pPr algn="ctr" indent="0" marL="0">
              <a:buNone/>
            </a:pPr>
            <a:r>
              <a:rPr lang="en-US" sz="1300" b="1" dirty="0">
                <a:solidFill>
                  <a:srgbClr val="334155"/>
                </a:solidFill>
                <a:latin typeface="Yu Gothic" pitchFamily="34" charset="0"/>
                <a:ea typeface="Yu Gothic" pitchFamily="34" charset="-122"/>
                <a:cs typeface="Yu Gothic" pitchFamily="34" charset="-120"/>
              </a:rPr>
              <a:t>小さな表題欄がある例</a:t>
            </a:r>
            <a:endParaRPr lang="en-US" sz="1300" dirty="0"/>
          </a:p>
        </p:txBody>
      </p:sp>
      <p:sp>
        <p:nvSpPr>
          <p:cNvPr id="14" name="Text 9"/>
          <p:cNvSpPr/>
          <p:nvPr/>
        </p:nvSpPr>
        <p:spPr>
          <a:xfrm>
            <a:off x="822960" y="5321808"/>
            <a:ext cx="10515600" cy="365760"/>
          </a:xfrm>
          <a:prstGeom prst="rect">
            <a:avLst/>
          </a:prstGeom>
          <a:noFill/>
          <a:ln/>
        </p:spPr>
        <p:txBody>
          <a:bodyPr wrap="square" lIns="0" tIns="0" rIns="0" bIns="0" rtlCol="0" anchor="ctr"/>
          <a:lstStyle/>
          <a:p>
            <a:pPr algn="ctr" indent="0" marL="0">
              <a:buNone/>
            </a:pPr>
            <a:r>
              <a:rPr lang="en-US" sz="1500" b="1" dirty="0">
                <a:solidFill>
                  <a:srgbClr val="0F766E"/>
                </a:solidFill>
                <a:latin typeface="Yu Gothic" pitchFamily="34" charset="0"/>
                <a:ea typeface="Yu Gothic" pitchFamily="34" charset="-122"/>
                <a:cs typeface="Yu Gothic" pitchFamily="34" charset="-120"/>
              </a:rPr>
              <a:t>PoCでは、表題欄や記入欄を固定の除外領域として扱い、残りの領域へ各ビューを配置する</a:t>
            </a:r>
            <a:endParaRPr lang="en-US" sz="1500" dirty="0"/>
          </a:p>
        </p:txBody>
      </p:sp>
      <p:sp>
        <p:nvSpPr>
          <p:cNvPr id="15" name="Text 10"/>
          <p:cNvSpPr/>
          <p:nvPr/>
        </p:nvSpPr>
        <p:spPr>
          <a:xfrm>
            <a:off x="713232" y="6007608"/>
            <a:ext cx="8046720" cy="228600"/>
          </a:xfrm>
          <a:prstGeom prst="rect">
            <a:avLst/>
          </a:prstGeom>
          <a:noFill/>
          <a:ln/>
        </p:spPr>
        <p:txBody>
          <a:bodyPr wrap="square" lIns="0" tIns="0" rIns="0" bIns="0" rtlCol="0" anchor="ctr"/>
          <a:lstStyle/>
          <a:p>
            <a:pPr indent="0" marL="0">
              <a:buNone/>
            </a:pPr>
            <a:r>
              <a:rPr lang="en-US" sz="800" dirty="0">
                <a:solidFill>
                  <a:srgbClr val="64748B"/>
                </a:solidFill>
                <a:latin typeface="Yu Gothic" pitchFamily="34" charset="0"/>
                <a:ea typeface="Yu Gothic" pitchFamily="34" charset="-122"/>
                <a:cs typeface="Yu Gothic" pitchFamily="34" charset="-120"/>
              </a:rPr>
              <a:t>出典: RootPro CAD サンプル図枠テンプレート（提案説明用に掲載）</a:t>
            </a:r>
            <a:endParaRPr lang="en-US" sz="800" dirty="0"/>
          </a:p>
        </p:txBody>
      </p:sp>
      <p:sp>
        <p:nvSpPr>
          <p:cNvPr id="16" name="Text 11"/>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目標とする出力例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3Dデータから各方向のビューを作り、確認しやすい位置へ自動配置する</a:t>
            </a:r>
            <a:endParaRPr lang="en-US" sz="1600" dirty="0"/>
          </a:p>
        </p:txBody>
      </p:sp>
      <p:sp>
        <p:nvSpPr>
          <p:cNvPr id="5" name="Shape 3"/>
          <p:cNvSpPr/>
          <p:nvPr/>
        </p:nvSpPr>
        <p:spPr>
          <a:xfrm>
            <a:off x="658368" y="1600200"/>
            <a:ext cx="6720840" cy="4370832"/>
          </a:xfrm>
          <a:prstGeom prst="roundRect">
            <a:avLst>
              <a:gd name="adj" fmla="val 1046"/>
            </a:avLst>
          </a:prstGeom>
          <a:solidFill>
            <a:srgbClr val="0F172A"/>
          </a:solidFill>
          <a:ln w="12700">
            <a:solidFill>
              <a:srgbClr val="334155"/>
            </a:solidFill>
            <a:prstDash val="solid"/>
          </a:ln>
        </p:spPr>
      </p:sp>
      <p:pic>
        <p:nvPicPr>
          <p:cNvPr id="6" name="Image 0" descr="/mnt/c/Users/y_s_d/Desktop/develop/work/mytool/MyReport/assets/company-proposal/image3.JPG">    </p:cNvPr>
          <p:cNvPicPr>
            <a:picLocks noChangeAspect="1"/>
          </p:cNvPicPr>
          <p:nvPr/>
        </p:nvPicPr>
        <p:blipFill>
          <a:blip r:embed="rId1"/>
          <a:stretch>
            <a:fillRect/>
          </a:stretch>
        </p:blipFill>
        <p:spPr>
          <a:xfrm>
            <a:off x="1078992" y="1847088"/>
            <a:ext cx="5879592" cy="4315968"/>
          </a:xfrm>
          <a:prstGeom prst="rect">
            <a:avLst/>
          </a:prstGeom>
        </p:spPr>
      </p:pic>
      <p:sp>
        <p:nvSpPr>
          <p:cNvPr id="7" name="Text 4"/>
          <p:cNvSpPr/>
          <p:nvPr/>
        </p:nvSpPr>
        <p:spPr>
          <a:xfrm>
            <a:off x="7726680" y="1938528"/>
            <a:ext cx="3703320" cy="2971800"/>
          </a:xfrm>
          <a:prstGeom prst="rect">
            <a:avLst/>
          </a:prstGeom>
          <a:noFill/>
          <a:ln/>
        </p:spPr>
        <p:txBody>
          <a:bodyPr wrap="square" lIns="635" tIns="635" rIns="635" bIns="635" rtlCol="0" anchor="ctr">
            <a:normAutofit/>
          </a:bodyPr>
          <a:lstStyle/>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正面・上面・側面・アイソメを生成する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各ビューの余白を検出して取り除く</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配置領域に収まる縮尺を計算する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表題欄などを避けて配置する</a:t>
            </a:r>
            <a:endParaRPr lang="en-US" sz="1700" dirty="0"/>
          </a:p>
        </p:txBody>
      </p:sp>
      <p:sp>
        <p:nvSpPr>
          <p:cNvPr id="8" name="Shape 5"/>
          <p:cNvSpPr/>
          <p:nvPr/>
        </p:nvSpPr>
        <p:spPr>
          <a:xfrm>
            <a:off x="7726680" y="4919472"/>
            <a:ext cx="3703320" cy="786384"/>
          </a:xfrm>
          <a:prstGeom prst="roundRect">
            <a:avLst>
              <a:gd name="adj" fmla="val 6977"/>
            </a:avLst>
          </a:prstGeom>
          <a:solidFill>
            <a:srgbClr val="CCFBF1"/>
          </a:solidFill>
          <a:ln w="12700">
            <a:solidFill>
              <a:srgbClr val="5EEAD4"/>
            </a:solidFill>
            <a:prstDash val="solid"/>
          </a:ln>
        </p:spPr>
      </p:sp>
      <p:sp>
        <p:nvSpPr>
          <p:cNvPr id="9" name="Text 6"/>
          <p:cNvSpPr/>
          <p:nvPr/>
        </p:nvSpPr>
        <p:spPr>
          <a:xfrm>
            <a:off x="7927848" y="5084064"/>
            <a:ext cx="3300984" cy="438912"/>
          </a:xfrm>
          <a:prstGeom prst="rect">
            <a:avLst/>
          </a:prstGeom>
          <a:noFill/>
          <a:ln/>
        </p:spPr>
        <p:txBody>
          <a:bodyPr wrap="square" lIns="0" tIns="0" rIns="0" bIns="0" rtlCol="0" anchor="ctr"/>
          <a:lstStyle/>
          <a:p>
            <a:pPr algn="ctr" indent="0" marL="0">
              <a:buNone/>
            </a:pPr>
            <a:r>
              <a:rPr lang="en-US" sz="1300" b="1" dirty="0">
                <a:solidFill>
                  <a:srgbClr val="115E59"/>
                </a:solidFill>
                <a:latin typeface="Yu Gothic" pitchFamily="34" charset="0"/>
                <a:ea typeface="Yu Gothic" pitchFamily="34" charset="-122"/>
                <a:cs typeface="Yu Gothic" pitchFamily="34" charset="-120"/>
              </a:rPr>
              <a:t>配置・縮尺・余白処理の自動化が</a:t>
            </a:r>
            <a:endParaRPr lang="en-US" sz="1300" dirty="0"/>
          </a:p>
          <a:p>
            <a:pPr algn="ctr" indent="0" marL="0">
              <a:buNone/>
            </a:pPr>
            <a:r>
              <a:rPr lang="en-US" sz="1300" b="1" dirty="0">
                <a:solidFill>
                  <a:srgbClr val="115E59"/>
                </a:solidFill>
                <a:latin typeface="Yu Gothic" pitchFamily="34" charset="0"/>
                <a:ea typeface="Yu Gothic" pitchFamily="34" charset="-122"/>
                <a:cs typeface="Yu Gothic" pitchFamily="34" charset="-120"/>
              </a:rPr>
              <a:t>今回の主な検証対象</a:t>
            </a:r>
            <a:endParaRPr lang="en-US" sz="1300" dirty="0"/>
          </a:p>
        </p:txBody>
      </p:sp>
      <p:sp>
        <p:nvSpPr>
          <p:cNvPr id="10" name="Text 7"/>
          <p:cNvSpPr/>
          <p:nvPr/>
        </p:nvSpPr>
        <p:spPr>
          <a:xfrm>
            <a:off x="713232" y="6263640"/>
            <a:ext cx="7772400" cy="201168"/>
          </a:xfrm>
          <a:prstGeom prst="rect">
            <a:avLst/>
          </a:prstGeom>
          <a:noFill/>
          <a:ln/>
        </p:spPr>
        <p:txBody>
          <a:bodyPr wrap="square" lIns="0" tIns="0" rIns="0" bIns="0" rtlCol="0" anchor="ctr"/>
          <a:lstStyle/>
          <a:p>
            <a:pPr indent="0" marL="0">
              <a:buNone/>
            </a:pPr>
            <a:r>
              <a:rPr lang="en-US" sz="800" dirty="0">
                <a:solidFill>
                  <a:srgbClr val="64748B"/>
                </a:solidFill>
                <a:latin typeface="Yu Gothic" pitchFamily="34" charset="0"/>
                <a:ea typeface="Yu Gothic" pitchFamily="34" charset="-122"/>
                <a:cs typeface="Yu Gothic" pitchFamily="34" charset="-120"/>
              </a:rPr>
              <a:t>参考: CADの使い方備忘録『3Dモデルから2D図を作図する方法』</a:t>
            </a:r>
            <a:endParaRPr lang="en-US" sz="800" dirty="0"/>
          </a:p>
        </p:txBody>
      </p:sp>
      <p:sp>
        <p:nvSpPr>
          <p:cNvPr id="11" name="Text 8"/>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7/22: 再提案を行い、PoCの目的、実施範囲、成果物を確認する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7/23〜7/24: 以前の検討で使用したbitbybitを再利用し、まずSTEPサンプルまたは自作形状をブラウザ上に表示する。表示成立後、IGES・STLの読み込み可否も確認する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7/28〜7/29: 正面・上面・側面・アイソメビューの生成、外形範囲取得、自動トリミング、縮尺調整を実装する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7/30〜7/31: 指定用紙への自動配置と確認資料出力を試し、成果、課題、継続判断の材料をまとめる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7月22日の合意後、最小表示から確認資料出力まで段階的に進める</a:t>
            </a:r>
            <a:endParaRPr lang="en-US" sz="1600" dirty="0"/>
          </a:p>
        </p:txBody>
      </p:sp>
      <p:sp>
        <p:nvSpPr>
          <p:cNvPr id="5" name="Shape 3"/>
          <p:cNvSpPr/>
          <p:nvPr/>
        </p:nvSpPr>
        <p:spPr>
          <a:xfrm>
            <a:off x="2743200" y="1691640"/>
            <a:ext cx="832104" cy="3822192"/>
          </a:xfrm>
          <a:prstGeom prst="rect">
            <a:avLst/>
          </a:prstGeom>
          <a:solidFill>
            <a:srgbClr val="FFFFFF"/>
          </a:solidFill>
          <a:ln w="6350">
            <a:solidFill>
              <a:srgbClr val="CBD5E1"/>
            </a:solidFill>
            <a:prstDash val="solid"/>
          </a:ln>
        </p:spPr>
      </p:sp>
      <p:sp>
        <p:nvSpPr>
          <p:cNvPr id="6" name="Text 4"/>
          <p:cNvSpPr/>
          <p:nvPr/>
        </p:nvSpPr>
        <p:spPr>
          <a:xfrm>
            <a:off x="2743200"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7/22</a:t>
            </a:r>
            <a:endParaRPr lang="en-US" sz="1000" dirty="0"/>
          </a:p>
        </p:txBody>
      </p:sp>
      <p:sp>
        <p:nvSpPr>
          <p:cNvPr id="7" name="Shape 5"/>
          <p:cNvSpPr/>
          <p:nvPr/>
        </p:nvSpPr>
        <p:spPr>
          <a:xfrm>
            <a:off x="3575304" y="1691640"/>
            <a:ext cx="832104" cy="3822192"/>
          </a:xfrm>
          <a:prstGeom prst="rect">
            <a:avLst/>
          </a:prstGeom>
          <a:solidFill>
            <a:srgbClr val="FFFFFF"/>
          </a:solidFill>
          <a:ln w="6350">
            <a:solidFill>
              <a:srgbClr val="CBD5E1"/>
            </a:solidFill>
            <a:prstDash val="solid"/>
          </a:ln>
        </p:spPr>
      </p:sp>
      <p:sp>
        <p:nvSpPr>
          <p:cNvPr id="8" name="Text 6"/>
          <p:cNvSpPr/>
          <p:nvPr/>
        </p:nvSpPr>
        <p:spPr>
          <a:xfrm>
            <a:off x="3575304"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7/23</a:t>
            </a:r>
            <a:endParaRPr lang="en-US" sz="1000" dirty="0"/>
          </a:p>
        </p:txBody>
      </p:sp>
      <p:sp>
        <p:nvSpPr>
          <p:cNvPr id="9" name="Shape 7"/>
          <p:cNvSpPr/>
          <p:nvPr/>
        </p:nvSpPr>
        <p:spPr>
          <a:xfrm>
            <a:off x="4407408" y="1691640"/>
            <a:ext cx="832104" cy="3822192"/>
          </a:xfrm>
          <a:prstGeom prst="rect">
            <a:avLst/>
          </a:prstGeom>
          <a:solidFill>
            <a:srgbClr val="FFFFFF"/>
          </a:solidFill>
          <a:ln w="6350">
            <a:solidFill>
              <a:srgbClr val="CBD5E1"/>
            </a:solidFill>
            <a:prstDash val="solid"/>
          </a:ln>
        </p:spPr>
      </p:sp>
      <p:sp>
        <p:nvSpPr>
          <p:cNvPr id="10" name="Text 8"/>
          <p:cNvSpPr/>
          <p:nvPr/>
        </p:nvSpPr>
        <p:spPr>
          <a:xfrm>
            <a:off x="4407408"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7/24</a:t>
            </a:r>
            <a:endParaRPr lang="en-US" sz="1000" dirty="0"/>
          </a:p>
        </p:txBody>
      </p:sp>
      <p:sp>
        <p:nvSpPr>
          <p:cNvPr id="11" name="Shape 9"/>
          <p:cNvSpPr/>
          <p:nvPr/>
        </p:nvSpPr>
        <p:spPr>
          <a:xfrm>
            <a:off x="5239512" y="1691640"/>
            <a:ext cx="832104" cy="3822192"/>
          </a:xfrm>
          <a:prstGeom prst="rect">
            <a:avLst/>
          </a:prstGeom>
          <a:solidFill>
            <a:srgbClr val="F1F5F9"/>
          </a:solidFill>
          <a:ln w="6350">
            <a:solidFill>
              <a:srgbClr val="CBD5E1"/>
            </a:solidFill>
            <a:prstDash val="solid"/>
          </a:ln>
        </p:spPr>
      </p:sp>
      <p:sp>
        <p:nvSpPr>
          <p:cNvPr id="12" name="Text 10"/>
          <p:cNvSpPr/>
          <p:nvPr/>
        </p:nvSpPr>
        <p:spPr>
          <a:xfrm>
            <a:off x="5239512" y="1764792"/>
            <a:ext cx="832104"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Yu Gothic" pitchFamily="34" charset="0"/>
                <a:ea typeface="Yu Gothic" pitchFamily="34" charset="-122"/>
                <a:cs typeface="Yu Gothic" pitchFamily="34" charset="-120"/>
              </a:rPr>
              <a:t>7/25</a:t>
            </a:r>
            <a:endParaRPr lang="en-US" sz="1000" dirty="0"/>
          </a:p>
        </p:txBody>
      </p:sp>
      <p:sp>
        <p:nvSpPr>
          <p:cNvPr id="13" name="Text 11"/>
          <p:cNvSpPr/>
          <p:nvPr/>
        </p:nvSpPr>
        <p:spPr>
          <a:xfrm>
            <a:off x="5239512" y="2011680"/>
            <a:ext cx="832104" cy="182880"/>
          </a:xfrm>
          <a:prstGeom prst="rect">
            <a:avLst/>
          </a:prstGeom>
          <a:noFill/>
          <a:ln/>
        </p:spPr>
        <p:txBody>
          <a:bodyPr wrap="square" lIns="0" tIns="0" rIns="0" bIns="0" rtlCol="0" anchor="ctr"/>
          <a:lstStyle/>
          <a:p>
            <a:pPr algn="ctr" indent="0" marL="0">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4" name="Shape 12"/>
          <p:cNvSpPr/>
          <p:nvPr/>
        </p:nvSpPr>
        <p:spPr>
          <a:xfrm>
            <a:off x="6071616" y="1691640"/>
            <a:ext cx="832104" cy="3822192"/>
          </a:xfrm>
          <a:prstGeom prst="rect">
            <a:avLst/>
          </a:prstGeom>
          <a:solidFill>
            <a:srgbClr val="F1F5F9"/>
          </a:solidFill>
          <a:ln w="6350">
            <a:solidFill>
              <a:srgbClr val="CBD5E1"/>
            </a:solidFill>
            <a:prstDash val="solid"/>
          </a:ln>
        </p:spPr>
      </p:sp>
      <p:sp>
        <p:nvSpPr>
          <p:cNvPr id="15" name="Text 13"/>
          <p:cNvSpPr/>
          <p:nvPr/>
        </p:nvSpPr>
        <p:spPr>
          <a:xfrm>
            <a:off x="6071616" y="1764792"/>
            <a:ext cx="832104" cy="228600"/>
          </a:xfrm>
          <a:prstGeom prst="rect">
            <a:avLst/>
          </a:prstGeom>
          <a:noFill/>
          <a:ln/>
        </p:spPr>
        <p:txBody>
          <a:bodyPr wrap="square" lIns="0" tIns="0" rIns="0" bIns="0" rtlCol="0" anchor="ctr"/>
          <a:lstStyle/>
          <a:p>
            <a:pPr algn="ctr" indent="0" marL="0">
              <a:buNone/>
            </a:pPr>
            <a:r>
              <a:rPr lang="en-US" sz="1000" b="1" dirty="0">
                <a:solidFill>
                  <a:srgbClr val="94A3B8"/>
                </a:solidFill>
                <a:latin typeface="Yu Gothic" pitchFamily="34" charset="0"/>
                <a:ea typeface="Yu Gothic" pitchFamily="34" charset="-122"/>
                <a:cs typeface="Yu Gothic" pitchFamily="34" charset="-120"/>
              </a:rPr>
              <a:t>7/26</a:t>
            </a:r>
            <a:endParaRPr lang="en-US" sz="1000" dirty="0"/>
          </a:p>
        </p:txBody>
      </p:sp>
      <p:sp>
        <p:nvSpPr>
          <p:cNvPr id="16" name="Text 14"/>
          <p:cNvSpPr/>
          <p:nvPr/>
        </p:nvSpPr>
        <p:spPr>
          <a:xfrm>
            <a:off x="6071616" y="2011680"/>
            <a:ext cx="832104" cy="182880"/>
          </a:xfrm>
          <a:prstGeom prst="rect">
            <a:avLst/>
          </a:prstGeom>
          <a:noFill/>
          <a:ln/>
        </p:spPr>
        <p:txBody>
          <a:bodyPr wrap="square" lIns="0" tIns="0" rIns="0" bIns="0" rtlCol="0" anchor="ctr"/>
          <a:lstStyle/>
          <a:p>
            <a:pPr algn="ctr" indent="0" marL="0">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7" name="Shape 15"/>
          <p:cNvSpPr/>
          <p:nvPr/>
        </p:nvSpPr>
        <p:spPr>
          <a:xfrm>
            <a:off x="6903720" y="1691640"/>
            <a:ext cx="832104" cy="3822192"/>
          </a:xfrm>
          <a:prstGeom prst="rect">
            <a:avLst/>
          </a:prstGeom>
          <a:solidFill>
            <a:srgbClr val="FFFFFF"/>
          </a:solidFill>
          <a:ln w="6350">
            <a:solidFill>
              <a:srgbClr val="CBD5E1"/>
            </a:solidFill>
            <a:prstDash val="solid"/>
          </a:ln>
        </p:spPr>
      </p:sp>
      <p:sp>
        <p:nvSpPr>
          <p:cNvPr id="18" name="Text 16"/>
          <p:cNvSpPr/>
          <p:nvPr/>
        </p:nvSpPr>
        <p:spPr>
          <a:xfrm>
            <a:off x="6903720"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7/27</a:t>
            </a:r>
            <a:endParaRPr lang="en-US" sz="1000" dirty="0"/>
          </a:p>
        </p:txBody>
      </p:sp>
      <p:sp>
        <p:nvSpPr>
          <p:cNvPr id="19" name="Shape 17"/>
          <p:cNvSpPr/>
          <p:nvPr/>
        </p:nvSpPr>
        <p:spPr>
          <a:xfrm>
            <a:off x="7735824" y="1691640"/>
            <a:ext cx="832104" cy="3822192"/>
          </a:xfrm>
          <a:prstGeom prst="rect">
            <a:avLst/>
          </a:prstGeom>
          <a:solidFill>
            <a:srgbClr val="FFFFFF"/>
          </a:solidFill>
          <a:ln w="6350">
            <a:solidFill>
              <a:srgbClr val="CBD5E1"/>
            </a:solidFill>
            <a:prstDash val="solid"/>
          </a:ln>
        </p:spPr>
      </p:sp>
      <p:sp>
        <p:nvSpPr>
          <p:cNvPr id="20" name="Text 18"/>
          <p:cNvSpPr/>
          <p:nvPr/>
        </p:nvSpPr>
        <p:spPr>
          <a:xfrm>
            <a:off x="7735824"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7/28</a:t>
            </a:r>
            <a:endParaRPr lang="en-US" sz="1000" dirty="0"/>
          </a:p>
        </p:txBody>
      </p:sp>
      <p:sp>
        <p:nvSpPr>
          <p:cNvPr id="21" name="Shape 19"/>
          <p:cNvSpPr/>
          <p:nvPr/>
        </p:nvSpPr>
        <p:spPr>
          <a:xfrm>
            <a:off x="8567928" y="1691640"/>
            <a:ext cx="832104" cy="3822192"/>
          </a:xfrm>
          <a:prstGeom prst="rect">
            <a:avLst/>
          </a:prstGeom>
          <a:solidFill>
            <a:srgbClr val="FFFFFF"/>
          </a:solidFill>
          <a:ln w="6350">
            <a:solidFill>
              <a:srgbClr val="CBD5E1"/>
            </a:solidFill>
            <a:prstDash val="solid"/>
          </a:ln>
        </p:spPr>
      </p:sp>
      <p:sp>
        <p:nvSpPr>
          <p:cNvPr id="22" name="Text 20"/>
          <p:cNvSpPr/>
          <p:nvPr/>
        </p:nvSpPr>
        <p:spPr>
          <a:xfrm>
            <a:off x="8567928"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7/29</a:t>
            </a:r>
            <a:endParaRPr lang="en-US" sz="1000" dirty="0"/>
          </a:p>
        </p:txBody>
      </p:sp>
      <p:sp>
        <p:nvSpPr>
          <p:cNvPr id="23" name="Shape 21"/>
          <p:cNvSpPr/>
          <p:nvPr/>
        </p:nvSpPr>
        <p:spPr>
          <a:xfrm>
            <a:off x="9400032" y="1691640"/>
            <a:ext cx="832104" cy="3822192"/>
          </a:xfrm>
          <a:prstGeom prst="rect">
            <a:avLst/>
          </a:prstGeom>
          <a:solidFill>
            <a:srgbClr val="FFFFFF"/>
          </a:solidFill>
          <a:ln w="6350">
            <a:solidFill>
              <a:srgbClr val="CBD5E1"/>
            </a:solidFill>
            <a:prstDash val="solid"/>
          </a:ln>
        </p:spPr>
      </p:sp>
      <p:sp>
        <p:nvSpPr>
          <p:cNvPr id="24" name="Text 22"/>
          <p:cNvSpPr/>
          <p:nvPr/>
        </p:nvSpPr>
        <p:spPr>
          <a:xfrm>
            <a:off x="9400032"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7/30</a:t>
            </a:r>
            <a:endParaRPr lang="en-US" sz="1000" dirty="0"/>
          </a:p>
        </p:txBody>
      </p:sp>
      <p:sp>
        <p:nvSpPr>
          <p:cNvPr id="25" name="Shape 23"/>
          <p:cNvSpPr/>
          <p:nvPr/>
        </p:nvSpPr>
        <p:spPr>
          <a:xfrm>
            <a:off x="10232136" y="1691640"/>
            <a:ext cx="832104" cy="3822192"/>
          </a:xfrm>
          <a:prstGeom prst="rect">
            <a:avLst/>
          </a:prstGeom>
          <a:solidFill>
            <a:srgbClr val="FFFFFF"/>
          </a:solidFill>
          <a:ln w="6350">
            <a:solidFill>
              <a:srgbClr val="CBD5E1"/>
            </a:solidFill>
            <a:prstDash val="solid"/>
          </a:ln>
        </p:spPr>
      </p:sp>
      <p:sp>
        <p:nvSpPr>
          <p:cNvPr id="26" name="Text 24"/>
          <p:cNvSpPr/>
          <p:nvPr/>
        </p:nvSpPr>
        <p:spPr>
          <a:xfrm>
            <a:off x="10232136" y="1764792"/>
            <a:ext cx="832104" cy="228600"/>
          </a:xfrm>
          <a:prstGeom prst="rect">
            <a:avLst/>
          </a:prstGeom>
          <a:noFill/>
          <a:ln/>
        </p:spPr>
        <p:txBody>
          <a:bodyPr wrap="square" lIns="0" tIns="0" rIns="0" bIns="0" rtlCol="0" anchor="ctr"/>
          <a:lstStyle/>
          <a:p>
            <a:pPr algn="ctr" indent="0" marL="0">
              <a:buNone/>
            </a:pPr>
            <a:r>
              <a:rPr lang="en-US" sz="1000" b="1" dirty="0">
                <a:solidFill>
                  <a:srgbClr val="334155"/>
                </a:solidFill>
                <a:latin typeface="Yu Gothic" pitchFamily="34" charset="0"/>
                <a:ea typeface="Yu Gothic" pitchFamily="34" charset="-122"/>
                <a:cs typeface="Yu Gothic" pitchFamily="34" charset="-120"/>
              </a:rPr>
              <a:t>7/31</a:t>
            </a:r>
            <a:endParaRPr lang="en-US" sz="1000" dirty="0"/>
          </a:p>
        </p:txBody>
      </p:sp>
      <p:sp>
        <p:nvSpPr>
          <p:cNvPr id="27" name="Text 25"/>
          <p:cNvSpPr/>
          <p:nvPr/>
        </p:nvSpPr>
        <p:spPr>
          <a:xfrm>
            <a:off x="658368" y="2368296"/>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再提案・範囲確認</a:t>
            </a:r>
            <a:endParaRPr lang="en-US" sz="1200" dirty="0"/>
          </a:p>
        </p:txBody>
      </p:sp>
      <p:sp>
        <p:nvSpPr>
          <p:cNvPr id="28" name="Shape 26"/>
          <p:cNvSpPr/>
          <p:nvPr/>
        </p:nvSpPr>
        <p:spPr>
          <a:xfrm>
            <a:off x="2816352" y="2313432"/>
            <a:ext cx="685800" cy="438912"/>
          </a:xfrm>
          <a:prstGeom prst="roundRect">
            <a:avLst>
              <a:gd name="adj" fmla="val 12500"/>
            </a:avLst>
          </a:prstGeom>
          <a:solidFill>
            <a:srgbClr val="0F766E"/>
          </a:solidFill>
          <a:ln w="12700">
            <a:solidFill>
              <a:srgbClr val="0F766E"/>
            </a:solidFill>
            <a:prstDash val="solid"/>
          </a:ln>
        </p:spPr>
      </p:sp>
      <p:sp>
        <p:nvSpPr>
          <p:cNvPr id="29" name="Text 27"/>
          <p:cNvSpPr/>
          <p:nvPr/>
        </p:nvSpPr>
        <p:spPr>
          <a:xfrm>
            <a:off x="658368" y="3209544"/>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ブラウザ3D表示</a:t>
            </a:r>
            <a:endParaRPr lang="en-US" sz="1200" dirty="0"/>
          </a:p>
        </p:txBody>
      </p:sp>
      <p:sp>
        <p:nvSpPr>
          <p:cNvPr id="30" name="Shape 28"/>
          <p:cNvSpPr/>
          <p:nvPr/>
        </p:nvSpPr>
        <p:spPr>
          <a:xfrm>
            <a:off x="3648456" y="3154680"/>
            <a:ext cx="1517904" cy="438912"/>
          </a:xfrm>
          <a:prstGeom prst="roundRect">
            <a:avLst>
              <a:gd name="adj" fmla="val 12500"/>
            </a:avLst>
          </a:prstGeom>
          <a:solidFill>
            <a:srgbClr val="0284C7"/>
          </a:solidFill>
          <a:ln w="12700">
            <a:solidFill>
              <a:srgbClr val="0284C7"/>
            </a:solidFill>
            <a:prstDash val="solid"/>
          </a:ln>
        </p:spPr>
      </p:sp>
      <p:sp>
        <p:nvSpPr>
          <p:cNvPr id="31" name="Text 29"/>
          <p:cNvSpPr/>
          <p:nvPr/>
        </p:nvSpPr>
        <p:spPr>
          <a:xfrm>
            <a:off x="658368" y="4050792"/>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ビュー生成・調整</a:t>
            </a:r>
            <a:endParaRPr lang="en-US" sz="1200" dirty="0"/>
          </a:p>
        </p:txBody>
      </p:sp>
      <p:sp>
        <p:nvSpPr>
          <p:cNvPr id="32" name="Shape 30"/>
          <p:cNvSpPr/>
          <p:nvPr/>
        </p:nvSpPr>
        <p:spPr>
          <a:xfrm>
            <a:off x="7808976" y="3995928"/>
            <a:ext cx="1517904" cy="438912"/>
          </a:xfrm>
          <a:prstGeom prst="roundRect">
            <a:avLst>
              <a:gd name="adj" fmla="val 12500"/>
            </a:avLst>
          </a:prstGeom>
          <a:solidFill>
            <a:srgbClr val="7C3AED"/>
          </a:solidFill>
          <a:ln w="12700">
            <a:solidFill>
              <a:srgbClr val="7C3AED"/>
            </a:solidFill>
            <a:prstDash val="solid"/>
          </a:ln>
        </p:spPr>
      </p:sp>
      <p:sp>
        <p:nvSpPr>
          <p:cNvPr id="33" name="Text 31"/>
          <p:cNvSpPr/>
          <p:nvPr/>
        </p:nvSpPr>
        <p:spPr>
          <a:xfrm>
            <a:off x="658368" y="4892040"/>
            <a:ext cx="1874520" cy="274320"/>
          </a:xfrm>
          <a:prstGeom prst="rect">
            <a:avLst/>
          </a:prstGeom>
          <a:noFill/>
          <a:ln/>
        </p:spPr>
        <p:txBody>
          <a:bodyPr wrap="square" lIns="0" tIns="0" rIns="0" bIns="0" rtlCol="0" anchor="ctr"/>
          <a:lstStyle/>
          <a:p>
            <a:pPr algn="r" indent="0" marL="0">
              <a:buNone/>
            </a:pPr>
            <a:r>
              <a:rPr lang="en-US" sz="1200" b="1" dirty="0">
                <a:solidFill>
                  <a:srgbClr val="334155"/>
                </a:solidFill>
                <a:latin typeface="Yu Gothic" pitchFamily="34" charset="0"/>
                <a:ea typeface="Yu Gothic" pitchFamily="34" charset="-122"/>
                <a:cs typeface="Yu Gothic" pitchFamily="34" charset="-120"/>
              </a:rPr>
              <a:t>資料出力・結果整理</a:t>
            </a:r>
            <a:endParaRPr lang="en-US" sz="1200" dirty="0"/>
          </a:p>
        </p:txBody>
      </p:sp>
      <p:sp>
        <p:nvSpPr>
          <p:cNvPr id="34" name="Shape 32"/>
          <p:cNvSpPr/>
          <p:nvPr/>
        </p:nvSpPr>
        <p:spPr>
          <a:xfrm>
            <a:off x="9473184" y="4837176"/>
            <a:ext cx="1517904" cy="438912"/>
          </a:xfrm>
          <a:prstGeom prst="roundRect">
            <a:avLst>
              <a:gd name="adj" fmla="val 12500"/>
            </a:avLst>
          </a:prstGeom>
          <a:solidFill>
            <a:srgbClr val="D97706"/>
          </a:solidFill>
          <a:ln w="12700">
            <a:solidFill>
              <a:srgbClr val="D97706"/>
            </a:solidFill>
            <a:prstDash val="solid"/>
          </a:ln>
        </p:spPr>
      </p:sp>
      <p:sp>
        <p:nvSpPr>
          <p:cNvPr id="35" name="Text 33"/>
          <p:cNvSpPr/>
          <p:nvPr/>
        </p:nvSpPr>
        <p:spPr>
          <a:xfrm>
            <a:off x="777240" y="5897880"/>
            <a:ext cx="10469880" cy="320040"/>
          </a:xfrm>
          <a:prstGeom prst="rect">
            <a:avLst/>
          </a:prstGeom>
          <a:noFill/>
          <a:ln/>
        </p:spPr>
        <p:txBody>
          <a:bodyPr wrap="square" lIns="0" tIns="0" rIns="0" bIns="0" rtlCol="0" anchor="ctr"/>
          <a:lstStyle/>
          <a:p>
            <a:pPr algn="ctr" indent="0" marL="0">
              <a:buNone/>
            </a:pPr>
            <a:r>
              <a:rPr lang="en-US" sz="1300" b="1" dirty="0">
                <a:solidFill>
                  <a:srgbClr val="0F766E"/>
                </a:solidFill>
                <a:latin typeface="Yu Gothic" pitchFamily="34" charset="0"/>
                <a:ea typeface="Yu Gothic" pitchFamily="34" charset="-122"/>
                <a:cs typeface="Yu Gothic" pitchFamily="34" charset="-120"/>
              </a:rPr>
              <a:t>7/23〜24は「準備」ではなく、最低1形式をブラウザで表示できる状態を最初の成果とする</a:t>
            </a:r>
            <a:endParaRPr lang="en-US" sz="1300" dirty="0"/>
          </a:p>
        </p:txBody>
      </p:sp>
      <p:sp>
        <p:nvSpPr>
          <p:cNvPr id="36" name="Text 3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13 /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MyReport</cp:lastModifiedBy>
  <cp:revision>1</cp:revision>
  <dcterms:created xsi:type="dcterms:W3CDTF">2026-07-22T04:19:00Z</dcterms:created>
  <dcterms:modified xsi:type="dcterms:W3CDTF">2026-07-22T04:19:00Z</dcterms:modified>
</cp:coreProperties>
</file>